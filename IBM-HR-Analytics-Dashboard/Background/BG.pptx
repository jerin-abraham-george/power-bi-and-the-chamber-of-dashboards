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B63"/>
    <a:srgbClr val="F8F8FF"/>
    <a:srgbClr val="F2F2F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2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E1E9-E926-3943-E1A2-D807CC8FE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94A73-1DB6-ECE9-A1D6-EF19071B0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0981-1BB5-390F-0FE0-F232889F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3EAE7-48A9-A5F5-3344-8049CD4C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0D1FE-268F-C6DC-AD11-8ACEE6B1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07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4BBBE-CEA5-6AEA-988B-635638C2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36787-C097-987E-E4F1-8E13A4541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AF76A-5F1D-29D2-2C36-EEE53EB1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2CFD-E50B-0783-A41B-7193A911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368CD-7AF1-DA11-776F-F922A0E6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33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C1CA-8923-2AE5-EE5F-4C2021BA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9470F-8F79-3EBC-FD0B-A6F1ADF1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49619-AA5E-5AFE-33C4-BF98FC40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2047F-C98D-1A66-9AF2-27B05D0D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FE940-751B-806E-E248-C1886BBC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21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4246-EF07-2E35-5481-3840D220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46626-373F-AEE7-DC0F-98B777E22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5D5B-5C27-D51A-CFEE-2CA6C0E1D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F82D3-F133-D184-E026-D0D7D71F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6F723-E0AC-604D-F618-88D5E750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AD621-E95B-329C-B906-2BDF2D6F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1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85A1-0EAE-1238-7B51-2D65B637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3E356-F9C9-71BF-49D8-E6F3D70E0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A5D76-4477-EB3D-AEAA-B50F8383B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48390-7187-3265-E326-1528584B2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44FF1-9E13-7387-CA00-86FC2EB3A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6911F-A37A-4E39-B8C5-A59992EC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25647-4EAB-A79A-A2FF-77D7E35F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FD916-7555-1224-76FB-44A57113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62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DE6A-CF83-D4C0-6443-76B543ED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E6B02-0243-B178-E967-7FE843EE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1489F-B0CC-22F8-1C4B-4F985B5F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76E31-E28D-AC2E-B4FD-61AA7450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4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43D278-4AD4-6DCC-BBA8-07BC837D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FC182-9137-B630-AA47-32D18828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1062B-EC94-1393-1100-20170D01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297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B4EB-5CB0-16F8-7C1D-C9211700B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C7630-9A23-4A0E-0C20-C1BE7C7EF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86D3F-77A1-0E03-944F-358F26E35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40634-B15F-73D8-7481-F741D0E62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CBB-5391-712F-5BB5-3D528E8E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E7B12-3CC9-FF3F-6744-39515927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19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8E16E-75E6-4411-09C2-2867161F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78B32-F15E-F471-F07E-7170AFAD7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64CE3-720D-7855-0DC3-D1C318BBF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4D824-0BCA-3162-7230-DF19E5EF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E2170-B2BA-3D88-009A-6B711CED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80803-0FEC-E0E0-8004-6A1F3FA2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8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DF6E-D1F2-46E7-D945-EFEC5947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3A317-EDBB-0642-B826-A40C7B829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BF960-6316-B7A5-0A6F-6154B868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D1EB7-4392-97B3-9223-6766E905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3AEA5-3DE6-0883-EF63-FF3EC62B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24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2556FD-A5C9-16E4-7909-443E5A259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9197C-2822-9165-4CCB-2B410F6E5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3961F-C90E-DE16-B2A1-C1A7AFB4A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BF2C2-35A2-995C-8C78-AF25AE71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DD215-C8BF-E5E6-8DE2-C3F8BE46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36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1E635-B66C-DF73-DAF6-1F4A6871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F326D-CD53-EF75-D05E-985BB646B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FEDB1-DF5F-137E-9AFC-67D74A28E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2908-9EDE-49F7-8179-55825C4492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36C33-2DEA-DC14-5A47-0EDD6C7A8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5CDD1-4B06-E65E-F09E-5AA4C1762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8B8EB-37AD-4D26-A0CE-4CB6C5F24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8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>
            <a:alpha val="4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7AC68E3-5C8D-BA73-42CE-A22FE7FF1777}"/>
              </a:ext>
            </a:extLst>
          </p:cNvPr>
          <p:cNvSpPr/>
          <p:nvPr/>
        </p:nvSpPr>
        <p:spPr>
          <a:xfrm>
            <a:off x="761999" y="729915"/>
            <a:ext cx="4033517" cy="2826369"/>
          </a:xfrm>
          <a:prstGeom prst="roundRect">
            <a:avLst>
              <a:gd name="adj" fmla="val 6234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2"/>
              </a:gs>
            </a:gsLst>
            <a:lin ang="8100000" scaled="1"/>
            <a:tileRect/>
          </a:gra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BFF95A-36A9-CEEF-BF43-24E3543438A7}"/>
              </a:ext>
            </a:extLst>
          </p:cNvPr>
          <p:cNvGrpSpPr/>
          <p:nvPr/>
        </p:nvGrpSpPr>
        <p:grpSpPr>
          <a:xfrm>
            <a:off x="0" y="0"/>
            <a:ext cx="641684" cy="6858000"/>
            <a:chOff x="0" y="0"/>
            <a:chExt cx="641684" cy="6858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A0084C-3729-8A66-2413-0A93DCF3DB78}"/>
                </a:ext>
              </a:extLst>
            </p:cNvPr>
            <p:cNvSpPr/>
            <p:nvPr/>
          </p:nvSpPr>
          <p:spPr>
            <a:xfrm>
              <a:off x="0" y="0"/>
              <a:ext cx="44917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96ECD080-01C6-A450-7BA7-BFB14A3D70EB}"/>
                </a:ext>
              </a:extLst>
            </p:cNvPr>
            <p:cNvSpPr/>
            <p:nvPr/>
          </p:nvSpPr>
          <p:spPr>
            <a:xfrm rot="5400000">
              <a:off x="-1808749" y="3082758"/>
              <a:ext cx="4259182" cy="641684"/>
            </a:xfrm>
            <a:prstGeom prst="trapezoid">
              <a:avLst>
                <a:gd name="adj" fmla="val 6052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DE0C509-E06B-3A3E-2DDF-7E6BA7A9CB98}"/>
              </a:ext>
            </a:extLst>
          </p:cNvPr>
          <p:cNvSpPr/>
          <p:nvPr/>
        </p:nvSpPr>
        <p:spPr>
          <a:xfrm>
            <a:off x="762000" y="85557"/>
            <a:ext cx="11285621" cy="489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151B59-A611-30DB-3E6F-3FC9EAE47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984" y="85557"/>
            <a:ext cx="749637" cy="48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09C45A-AD07-F077-FA0D-CE308703AEA1}"/>
              </a:ext>
            </a:extLst>
          </p:cNvPr>
          <p:cNvSpPr txBox="1"/>
          <p:nvPr/>
        </p:nvSpPr>
        <p:spPr>
          <a:xfrm>
            <a:off x="762000" y="145533"/>
            <a:ext cx="321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Attrition &amp; Workforce </a:t>
            </a:r>
            <a:r>
              <a:rPr lang="en-US" b="1" dirty="0">
                <a:solidFill>
                  <a:schemeClr val="bg1"/>
                </a:solidFill>
              </a:rPr>
              <a:t>Metrics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3C63AD-9CA5-3533-1A1D-4B7140DB1301}"/>
              </a:ext>
            </a:extLst>
          </p:cNvPr>
          <p:cNvSpPr/>
          <p:nvPr/>
        </p:nvSpPr>
        <p:spPr>
          <a:xfrm>
            <a:off x="4988021" y="3216442"/>
            <a:ext cx="7059600" cy="34719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02EAA8-721D-AC15-1E15-3F80B0DCC83C}"/>
              </a:ext>
            </a:extLst>
          </p:cNvPr>
          <p:cNvSpPr/>
          <p:nvPr/>
        </p:nvSpPr>
        <p:spPr>
          <a:xfrm>
            <a:off x="761999" y="3616261"/>
            <a:ext cx="4033517" cy="30721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7495A6-9847-B3B8-9520-A4A191AE3A03}"/>
              </a:ext>
            </a:extLst>
          </p:cNvPr>
          <p:cNvSpPr/>
          <p:nvPr/>
        </p:nvSpPr>
        <p:spPr>
          <a:xfrm>
            <a:off x="4988021" y="729915"/>
            <a:ext cx="7059600" cy="23341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42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>
            <a:alpha val="4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4904A-0130-49CD-9DE0-79C11115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89F734-91D8-1318-0698-6FDFFE730B2A}"/>
              </a:ext>
            </a:extLst>
          </p:cNvPr>
          <p:cNvSpPr/>
          <p:nvPr/>
        </p:nvSpPr>
        <p:spPr>
          <a:xfrm rot="831989">
            <a:off x="6161638" y="1958618"/>
            <a:ext cx="489284" cy="2859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8C098B-AB6A-8823-34F4-14AA8B9055F4}"/>
              </a:ext>
            </a:extLst>
          </p:cNvPr>
          <p:cNvSpPr/>
          <p:nvPr/>
        </p:nvSpPr>
        <p:spPr>
          <a:xfrm rot="487413">
            <a:off x="2130827" y="809422"/>
            <a:ext cx="489284" cy="2859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1F2B2E-F8C6-74C9-58D2-A2132C2F4942}"/>
              </a:ext>
            </a:extLst>
          </p:cNvPr>
          <p:cNvGrpSpPr/>
          <p:nvPr/>
        </p:nvGrpSpPr>
        <p:grpSpPr>
          <a:xfrm>
            <a:off x="0" y="0"/>
            <a:ext cx="641684" cy="6858000"/>
            <a:chOff x="0" y="0"/>
            <a:chExt cx="641684" cy="6858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84FE22-1738-DD03-B1BF-3DC0B969A688}"/>
                </a:ext>
              </a:extLst>
            </p:cNvPr>
            <p:cNvSpPr/>
            <p:nvPr/>
          </p:nvSpPr>
          <p:spPr>
            <a:xfrm>
              <a:off x="0" y="0"/>
              <a:ext cx="44917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FE31E3C2-1F6D-ACE8-DDEE-A525AE0ADE05}"/>
                </a:ext>
              </a:extLst>
            </p:cNvPr>
            <p:cNvSpPr/>
            <p:nvPr/>
          </p:nvSpPr>
          <p:spPr>
            <a:xfrm rot="5400000">
              <a:off x="-1808749" y="3082758"/>
              <a:ext cx="4259182" cy="641684"/>
            </a:xfrm>
            <a:prstGeom prst="trapezoid">
              <a:avLst>
                <a:gd name="adj" fmla="val 6052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FE5C155-51DA-9B94-0EBF-8ED9815EDB8C}"/>
              </a:ext>
            </a:extLst>
          </p:cNvPr>
          <p:cNvSpPr/>
          <p:nvPr/>
        </p:nvSpPr>
        <p:spPr>
          <a:xfrm>
            <a:off x="762000" y="85557"/>
            <a:ext cx="11285621" cy="489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B4BC03-C579-69FE-9201-88A0B48A7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984" y="85557"/>
            <a:ext cx="749637" cy="48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65BA2A-3F48-4BFC-5B34-0E7D80852FD6}"/>
              </a:ext>
            </a:extLst>
          </p:cNvPr>
          <p:cNvSpPr txBox="1"/>
          <p:nvPr/>
        </p:nvSpPr>
        <p:spPr>
          <a:xfrm>
            <a:off x="762000" y="145533"/>
            <a:ext cx="3858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Promotion &amp; Career Growth </a:t>
            </a:r>
            <a:r>
              <a:rPr lang="en-US" b="1" dirty="0">
                <a:solidFill>
                  <a:schemeClr val="bg1"/>
                </a:solidFill>
              </a:rPr>
              <a:t>Metrics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DFAD46-FF7B-EDB6-BCF3-07A0F26D0E69}"/>
              </a:ext>
            </a:extLst>
          </p:cNvPr>
          <p:cNvSpPr/>
          <p:nvPr/>
        </p:nvSpPr>
        <p:spPr>
          <a:xfrm>
            <a:off x="828016" y="2344527"/>
            <a:ext cx="5919534" cy="42591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B7965D-AC9C-01C4-1FCC-1CF369A8AD81}"/>
              </a:ext>
            </a:extLst>
          </p:cNvPr>
          <p:cNvGrpSpPr/>
          <p:nvPr/>
        </p:nvGrpSpPr>
        <p:grpSpPr>
          <a:xfrm>
            <a:off x="762000" y="786062"/>
            <a:ext cx="5985550" cy="1427748"/>
            <a:chOff x="762000" y="786062"/>
            <a:chExt cx="5985550" cy="14277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9CEE944-D2D3-5A9B-EFF7-8BA2CF47602B}"/>
                </a:ext>
              </a:extLst>
            </p:cNvPr>
            <p:cNvGrpSpPr/>
            <p:nvPr/>
          </p:nvGrpSpPr>
          <p:grpSpPr>
            <a:xfrm>
              <a:off x="762000" y="786062"/>
              <a:ext cx="5985550" cy="1427748"/>
              <a:chOff x="906379" y="882316"/>
              <a:chExt cx="5985550" cy="142774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B2BCB5F-8C9C-9724-D3B5-F4254D6C89E6}"/>
                  </a:ext>
                </a:extLst>
              </p:cNvPr>
              <p:cNvSpPr/>
              <p:nvPr/>
            </p:nvSpPr>
            <p:spPr>
              <a:xfrm>
                <a:off x="1386568" y="962526"/>
                <a:ext cx="5505361" cy="13154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ACD4D21E-492A-9BE6-C13C-D4BB4809AF03}"/>
                  </a:ext>
                </a:extLst>
              </p:cNvPr>
              <p:cNvSpPr/>
              <p:nvPr/>
            </p:nvSpPr>
            <p:spPr>
              <a:xfrm>
                <a:off x="906379" y="882316"/>
                <a:ext cx="1427748" cy="142774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BD39188A-A85A-92DA-EFF5-510E4244D418}"/>
                  </a:ext>
                </a:extLst>
              </p:cNvPr>
              <p:cNvSpPr/>
              <p:nvPr/>
            </p:nvSpPr>
            <p:spPr>
              <a:xfrm>
                <a:off x="1010117" y="994611"/>
                <a:ext cx="1203157" cy="1203157"/>
              </a:xfrm>
              <a:prstGeom prst="ellipse">
                <a:avLst/>
              </a:prstGeom>
              <a:noFill/>
              <a:ln>
                <a:solidFill>
                  <a:srgbClr val="031B63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A2BD33F-FD9B-ED69-6A59-377D96A9CDCD}"/>
                  </a:ext>
                </a:extLst>
              </p:cNvPr>
              <p:cNvSpPr/>
              <p:nvPr/>
            </p:nvSpPr>
            <p:spPr>
              <a:xfrm>
                <a:off x="1084689" y="1069183"/>
                <a:ext cx="1054011" cy="1054011"/>
              </a:xfrm>
              <a:prstGeom prst="ellipse">
                <a:avLst/>
              </a:prstGeom>
              <a:noFill/>
              <a:ln w="3175">
                <a:solidFill>
                  <a:srgbClr val="031B63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F3AD42A-F4F7-B470-AD0C-957C1CF86BED}"/>
                </a:ext>
              </a:extLst>
            </p:cNvPr>
            <p:cNvSpPr/>
            <p:nvPr/>
          </p:nvSpPr>
          <p:spPr>
            <a:xfrm>
              <a:off x="2264321" y="1071998"/>
              <a:ext cx="4320964" cy="904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just"/>
              <a:r>
                <a:rPr lang="en-IN" sz="1000" dirty="0">
                  <a:solidFill>
                    <a:schemeClr val="tx1"/>
                  </a:solidFill>
                </a:rPr>
                <a:t>If the number is </a:t>
              </a:r>
              <a:r>
                <a:rPr lang="en-IN" sz="1000" b="1" dirty="0">
                  <a:solidFill>
                    <a:srgbClr val="FF0000"/>
                  </a:solidFill>
                </a:rPr>
                <a:t>positive,</a:t>
              </a:r>
              <a:r>
                <a:rPr lang="en-IN" sz="1000" dirty="0">
                  <a:solidFill>
                    <a:schemeClr val="tx1"/>
                  </a:solidFill>
                </a:rPr>
                <a:t> it means promotions are happening later than they should.</a:t>
              </a:r>
            </a:p>
            <a:p>
              <a:pPr algn="just"/>
              <a:endParaRPr lang="en-IN" sz="1000" dirty="0">
                <a:solidFill>
                  <a:schemeClr val="tx1"/>
                </a:solidFill>
              </a:endParaRPr>
            </a:p>
            <a:p>
              <a:pPr algn="just"/>
              <a:r>
                <a:rPr lang="en-IN" sz="1000" dirty="0">
                  <a:solidFill>
                    <a:schemeClr val="tx1"/>
                  </a:solidFill>
                </a:rPr>
                <a:t>If the number is </a:t>
              </a:r>
              <a:r>
                <a:rPr lang="en-IN" sz="10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negative</a:t>
              </a:r>
              <a:r>
                <a:rPr lang="en-IN" sz="1000" b="1" dirty="0">
                  <a:solidFill>
                    <a:schemeClr val="accent1"/>
                  </a:solidFill>
                </a:rPr>
                <a:t>,</a:t>
              </a:r>
              <a:r>
                <a:rPr lang="en-IN" sz="1000" b="1" dirty="0">
                  <a:solidFill>
                    <a:srgbClr val="FF0000"/>
                  </a:solidFill>
                </a:rPr>
                <a:t> </a:t>
              </a:r>
              <a:r>
                <a:rPr lang="en-IN" sz="1000" dirty="0">
                  <a:solidFill>
                    <a:schemeClr val="tx1"/>
                  </a:solidFill>
                </a:rPr>
                <a:t>it means promotions are happening faster than expected.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AFF3B06-CDB3-84B4-15F9-438DBEB93E12}"/>
              </a:ext>
            </a:extLst>
          </p:cNvPr>
          <p:cNvSpPr/>
          <p:nvPr/>
        </p:nvSpPr>
        <p:spPr>
          <a:xfrm>
            <a:off x="6868404" y="866272"/>
            <a:ext cx="5179217" cy="57374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>
            <a:alpha val="4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E2B91-B01D-7CB1-6CA1-7B279E58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D822ECE-D6BA-BACF-FAA3-9FFA1909759E}"/>
              </a:ext>
            </a:extLst>
          </p:cNvPr>
          <p:cNvGrpSpPr/>
          <p:nvPr/>
        </p:nvGrpSpPr>
        <p:grpSpPr>
          <a:xfrm>
            <a:off x="0" y="0"/>
            <a:ext cx="641684" cy="6858000"/>
            <a:chOff x="0" y="0"/>
            <a:chExt cx="641684" cy="6858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EBF306-66A6-2027-46B1-99851E4E5A01}"/>
                </a:ext>
              </a:extLst>
            </p:cNvPr>
            <p:cNvSpPr/>
            <p:nvPr/>
          </p:nvSpPr>
          <p:spPr>
            <a:xfrm>
              <a:off x="0" y="0"/>
              <a:ext cx="44917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4FEAAFD2-1553-683B-E64A-4BDCCBC6FCD3}"/>
                </a:ext>
              </a:extLst>
            </p:cNvPr>
            <p:cNvSpPr/>
            <p:nvPr/>
          </p:nvSpPr>
          <p:spPr>
            <a:xfrm rot="5400000">
              <a:off x="-1808749" y="3082758"/>
              <a:ext cx="4259182" cy="641684"/>
            </a:xfrm>
            <a:prstGeom prst="trapezoid">
              <a:avLst>
                <a:gd name="adj" fmla="val 6052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DFDF719-469D-86E1-FC57-41015D28AE85}"/>
              </a:ext>
            </a:extLst>
          </p:cNvPr>
          <p:cNvSpPr/>
          <p:nvPr/>
        </p:nvSpPr>
        <p:spPr>
          <a:xfrm>
            <a:off x="762000" y="85557"/>
            <a:ext cx="11285621" cy="489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E46CA2-1408-FF0F-3401-5C73BC384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984" y="85557"/>
            <a:ext cx="749637" cy="48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8780FC-188B-59BD-9538-1959F414698D}"/>
              </a:ext>
            </a:extLst>
          </p:cNvPr>
          <p:cNvSpPr txBox="1"/>
          <p:nvPr/>
        </p:nvSpPr>
        <p:spPr>
          <a:xfrm>
            <a:off x="762000" y="145533"/>
            <a:ext cx="3858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Performance &amp; Salary </a:t>
            </a:r>
            <a:r>
              <a:rPr lang="en-US" b="1" dirty="0">
                <a:solidFill>
                  <a:schemeClr val="bg1"/>
                </a:solidFill>
              </a:rPr>
              <a:t>Metrics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9CFD4F-96BD-65BA-50FC-9BD8C272706F}"/>
              </a:ext>
            </a:extLst>
          </p:cNvPr>
          <p:cNvSpPr/>
          <p:nvPr/>
        </p:nvSpPr>
        <p:spPr>
          <a:xfrm>
            <a:off x="828016" y="2499604"/>
            <a:ext cx="3711900" cy="41041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B52CA-4747-9758-BDB0-C94ABE7873CD}"/>
              </a:ext>
            </a:extLst>
          </p:cNvPr>
          <p:cNvSpPr/>
          <p:nvPr/>
        </p:nvSpPr>
        <p:spPr>
          <a:xfrm>
            <a:off x="4726248" y="2499602"/>
            <a:ext cx="7321373" cy="41041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9A3131-FD83-0DFB-A212-4212AC42E6A2}"/>
              </a:ext>
            </a:extLst>
          </p:cNvPr>
          <p:cNvSpPr/>
          <p:nvPr/>
        </p:nvSpPr>
        <p:spPr>
          <a:xfrm>
            <a:off x="761999" y="729916"/>
            <a:ext cx="5277854" cy="1620252"/>
          </a:xfrm>
          <a:prstGeom prst="roundRect">
            <a:avLst>
              <a:gd name="adj" fmla="val 6234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2"/>
              </a:gs>
            </a:gsLst>
            <a:lin ang="8100000" scaled="1"/>
            <a:tileRect/>
          </a:gra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9F9231-3A3F-BBD1-C417-67B83B6D84B2}"/>
              </a:ext>
            </a:extLst>
          </p:cNvPr>
          <p:cNvSpPr/>
          <p:nvPr/>
        </p:nvSpPr>
        <p:spPr>
          <a:xfrm>
            <a:off x="6226186" y="724275"/>
            <a:ext cx="5821436" cy="16202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4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>
            <a:alpha val="4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054B4-86D3-3A97-DEB2-D5B32232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AFDC53E-1298-F4BE-2830-0ABC46650722}"/>
              </a:ext>
            </a:extLst>
          </p:cNvPr>
          <p:cNvGrpSpPr/>
          <p:nvPr/>
        </p:nvGrpSpPr>
        <p:grpSpPr>
          <a:xfrm>
            <a:off x="0" y="0"/>
            <a:ext cx="641684" cy="6858000"/>
            <a:chOff x="0" y="0"/>
            <a:chExt cx="641684" cy="6858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DC3BFF-CAA7-6468-61F9-D78AD44BF5B7}"/>
                </a:ext>
              </a:extLst>
            </p:cNvPr>
            <p:cNvSpPr/>
            <p:nvPr/>
          </p:nvSpPr>
          <p:spPr>
            <a:xfrm>
              <a:off x="0" y="0"/>
              <a:ext cx="44917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A8D4471C-E91C-ED20-011A-18429B126F50}"/>
                </a:ext>
              </a:extLst>
            </p:cNvPr>
            <p:cNvSpPr/>
            <p:nvPr/>
          </p:nvSpPr>
          <p:spPr>
            <a:xfrm rot="5400000">
              <a:off x="-1808749" y="3082758"/>
              <a:ext cx="4259182" cy="641684"/>
            </a:xfrm>
            <a:prstGeom prst="trapezoid">
              <a:avLst>
                <a:gd name="adj" fmla="val 6052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B6AE196-5C53-D5D8-7BBE-D73D5D639F63}"/>
              </a:ext>
            </a:extLst>
          </p:cNvPr>
          <p:cNvSpPr/>
          <p:nvPr/>
        </p:nvSpPr>
        <p:spPr>
          <a:xfrm>
            <a:off x="762000" y="85557"/>
            <a:ext cx="11285621" cy="489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584FCD-00A6-8C7C-EEFD-CB690102C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984" y="85557"/>
            <a:ext cx="749637" cy="48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F891B5-63E0-BF60-486D-E2F9D72630B1}"/>
              </a:ext>
            </a:extLst>
          </p:cNvPr>
          <p:cNvSpPr txBox="1"/>
          <p:nvPr/>
        </p:nvSpPr>
        <p:spPr>
          <a:xfrm>
            <a:off x="762000" y="145533"/>
            <a:ext cx="3858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Satisfaction </a:t>
            </a:r>
            <a:r>
              <a:rPr lang="en-US" b="1" dirty="0">
                <a:solidFill>
                  <a:schemeClr val="bg1"/>
                </a:solidFill>
              </a:rPr>
              <a:t>Metrics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67B664-6C2E-3D05-CA10-A886D7F83180}"/>
              </a:ext>
            </a:extLst>
          </p:cNvPr>
          <p:cNvSpPr/>
          <p:nvPr/>
        </p:nvSpPr>
        <p:spPr>
          <a:xfrm>
            <a:off x="761999" y="3513220"/>
            <a:ext cx="3777917" cy="3090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09812C-D60E-EF1B-61DF-85DD2B26BC77}"/>
              </a:ext>
            </a:extLst>
          </p:cNvPr>
          <p:cNvSpPr/>
          <p:nvPr/>
        </p:nvSpPr>
        <p:spPr>
          <a:xfrm>
            <a:off x="4726248" y="2499602"/>
            <a:ext cx="7321373" cy="41041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AFA44F-A48D-CA56-E13E-E5AF216EA6F4}"/>
              </a:ext>
            </a:extLst>
          </p:cNvPr>
          <p:cNvSpPr/>
          <p:nvPr/>
        </p:nvSpPr>
        <p:spPr>
          <a:xfrm>
            <a:off x="761999" y="729916"/>
            <a:ext cx="3777917" cy="2558716"/>
          </a:xfrm>
          <a:prstGeom prst="roundRect">
            <a:avLst>
              <a:gd name="adj" fmla="val 3726"/>
            </a:avLst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2"/>
              </a:gs>
            </a:gsLst>
            <a:lin ang="8100000" scaled="1"/>
            <a:tileRect/>
          </a:gra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C6A743-4FF7-4C38-1F4D-991735793F75}"/>
              </a:ext>
            </a:extLst>
          </p:cNvPr>
          <p:cNvSpPr/>
          <p:nvPr/>
        </p:nvSpPr>
        <p:spPr>
          <a:xfrm>
            <a:off x="4726248" y="724275"/>
            <a:ext cx="7321374" cy="16202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05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EE31E9-35F8-5CFF-38AC-6E73BB702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9" y="445169"/>
            <a:ext cx="1700463" cy="17004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228C67-927B-9F2A-F406-CD09C9083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663" y="445169"/>
            <a:ext cx="1699200" cy="1699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36F6B4-0059-605C-8836-A55CF92C6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569" y="445169"/>
            <a:ext cx="1699200" cy="1699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31DA0A-9727-7FBE-1A58-B3A029EC5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45169"/>
            <a:ext cx="1699200" cy="1699200"/>
          </a:xfrm>
          <a:prstGeom prst="rect">
            <a:avLst/>
          </a:prstGeom>
        </p:spPr>
      </p:pic>
      <p:pic>
        <p:nvPicPr>
          <p:cNvPr id="3" name="Graphic 2" descr="User with solid fill">
            <a:extLst>
              <a:ext uri="{FF2B5EF4-FFF2-40B4-BE49-F238E27FC236}">
                <a16:creationId xmlns:a16="http://schemas.microsoft.com/office/drawing/2014/main" id="{907F670E-DAA6-385B-37EF-D18A94DA2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971800"/>
            <a:ext cx="914400" cy="914400"/>
          </a:xfrm>
          <a:prstGeom prst="rect">
            <a:avLst/>
          </a:prstGeom>
        </p:spPr>
      </p:pic>
      <p:pic>
        <p:nvPicPr>
          <p:cNvPr id="4" name="Graphic 3" descr="User with solid fill">
            <a:extLst>
              <a:ext uri="{FF2B5EF4-FFF2-40B4-BE49-F238E27FC236}">
                <a16:creationId xmlns:a16="http://schemas.microsoft.com/office/drawing/2014/main" id="{96C87396-1F96-62A5-B7AB-46EE257537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3966411"/>
            <a:ext cx="914400" cy="914400"/>
          </a:xfrm>
          <a:prstGeom prst="rect">
            <a:avLst/>
          </a:prstGeom>
        </p:spPr>
      </p:pic>
      <p:pic>
        <p:nvPicPr>
          <p:cNvPr id="7" name="Graphic 6" descr="Bullseye with solid fill">
            <a:extLst>
              <a:ext uri="{FF2B5EF4-FFF2-40B4-BE49-F238E27FC236}">
                <a16:creationId xmlns:a16="http://schemas.microsoft.com/office/drawing/2014/main" id="{935D6C2B-F263-4B08-48A2-CFF1826ED8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0063" y="3966411"/>
            <a:ext cx="914400" cy="914400"/>
          </a:xfrm>
          <a:prstGeom prst="rect">
            <a:avLst/>
          </a:prstGeom>
        </p:spPr>
      </p:pic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1B992447-F890-AF74-82C8-A2A92C3C07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10063" y="2971800"/>
            <a:ext cx="914400" cy="914400"/>
          </a:xfrm>
          <a:prstGeom prst="rect">
            <a:avLst/>
          </a:prstGeom>
        </p:spPr>
      </p:pic>
      <p:pic>
        <p:nvPicPr>
          <p:cNvPr id="12" name="Graphic 11" descr="Money with solid fill">
            <a:extLst>
              <a:ext uri="{FF2B5EF4-FFF2-40B4-BE49-F238E27FC236}">
                <a16:creationId xmlns:a16="http://schemas.microsoft.com/office/drawing/2014/main" id="{C798FB5E-44B9-1912-6BDF-725C1FD597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56008" y="3966411"/>
            <a:ext cx="914400" cy="914400"/>
          </a:xfrm>
          <a:prstGeom prst="rect">
            <a:avLst/>
          </a:prstGeom>
        </p:spPr>
      </p:pic>
      <p:pic>
        <p:nvPicPr>
          <p:cNvPr id="14" name="Graphic 13" descr="Money with solid fill">
            <a:extLst>
              <a:ext uri="{FF2B5EF4-FFF2-40B4-BE49-F238E27FC236}">
                <a16:creationId xmlns:a16="http://schemas.microsoft.com/office/drawing/2014/main" id="{D8009666-4E8B-7390-8BC7-00040C038C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76136" y="3124200"/>
            <a:ext cx="914400" cy="914400"/>
          </a:xfrm>
          <a:prstGeom prst="rect">
            <a:avLst/>
          </a:prstGeom>
        </p:spPr>
      </p:pic>
      <p:pic>
        <p:nvPicPr>
          <p:cNvPr id="16" name="Graphic 15" descr="Drama with solid fill">
            <a:extLst>
              <a:ext uri="{FF2B5EF4-FFF2-40B4-BE49-F238E27FC236}">
                <a16:creationId xmlns:a16="http://schemas.microsoft.com/office/drawing/2014/main" id="{B0924090-06E8-9A52-24AE-E37DA8ECF6B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17" name="Graphic 16" descr="Drama with solid fill">
            <a:extLst>
              <a:ext uri="{FF2B5EF4-FFF2-40B4-BE49-F238E27FC236}">
                <a16:creationId xmlns:a16="http://schemas.microsoft.com/office/drawing/2014/main" id="{E7BDDEFE-827B-5B72-4F6D-EA4C634F4B2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25769" y="38358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7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26C39-8718-B128-FA2F-76090161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1DDFA1-380A-3733-F163-AEF46AAEE5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41394"/>
          <a:stretch>
            <a:fillRect/>
          </a:stretch>
        </p:blipFill>
        <p:spPr>
          <a:xfrm>
            <a:off x="401053" y="663748"/>
            <a:ext cx="2711116" cy="3020938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33BA12-ADA2-DAC4-FB07-6E424309DD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23"/>
          <a:stretch>
            <a:fillRect/>
          </a:stretch>
        </p:blipFill>
        <p:spPr>
          <a:xfrm>
            <a:off x="6516750" y="664286"/>
            <a:ext cx="2688783" cy="3020400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E0DCB0-0AAC-AB26-C463-56E67568BA6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20" r="12710"/>
          <a:stretch>
            <a:fillRect/>
          </a:stretch>
        </p:blipFill>
        <p:spPr>
          <a:xfrm>
            <a:off x="3374205" y="663748"/>
            <a:ext cx="2710800" cy="3073918"/>
          </a:xfrm>
          <a:prstGeom prst="ellipse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A14BB6-CB9C-14BC-914E-32A8446673A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8064" r="19115"/>
          <a:stretch>
            <a:fillRect/>
          </a:stretch>
        </p:blipFill>
        <p:spPr>
          <a:xfrm>
            <a:off x="9304387" y="663748"/>
            <a:ext cx="2685148" cy="3020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9443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8EAD6-227B-F7E5-E4B7-0A914F1C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D354A97-3EC8-78CC-6BCB-79132D606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984" y="85557"/>
            <a:ext cx="749637" cy="48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7BA98-6424-4DCC-F341-3190911AD527}"/>
              </a:ext>
            </a:extLst>
          </p:cNvPr>
          <p:cNvSpPr txBox="1"/>
          <p:nvPr/>
        </p:nvSpPr>
        <p:spPr>
          <a:xfrm>
            <a:off x="6962274" y="574841"/>
            <a:ext cx="52297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”People are the heart of every organization.“</a:t>
            </a:r>
          </a:p>
        </p:txBody>
      </p:sp>
    </p:spTree>
    <p:extLst>
      <p:ext uri="{BB962C8B-B14F-4D97-AF65-F5344CB8AC3E}">
        <p14:creationId xmlns:p14="http://schemas.microsoft.com/office/powerpoint/2010/main" val="190233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1B63"/>
      </a:accent1>
      <a:accent2>
        <a:srgbClr val="052994"/>
      </a:accent2>
      <a:accent3>
        <a:srgbClr val="031B63"/>
      </a:accent3>
      <a:accent4>
        <a:srgbClr val="0844F7"/>
      </a:accent4>
      <a:accent5>
        <a:srgbClr val="3969F9"/>
      </a:accent5>
      <a:accent6>
        <a:srgbClr val="6B8FFA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55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20</cp:revision>
  <dcterms:created xsi:type="dcterms:W3CDTF">2025-12-11T06:20:27Z</dcterms:created>
  <dcterms:modified xsi:type="dcterms:W3CDTF">2026-02-07T23:35:45Z</dcterms:modified>
</cp:coreProperties>
</file>