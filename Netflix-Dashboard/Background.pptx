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8" r:id="rId2"/>
  </p:sldIdLst>
  <p:sldSz cx="12192000" cy="2743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C1FF"/>
    <a:srgbClr val="1CE783"/>
    <a:srgbClr val="00ABE5"/>
    <a:srgbClr val="630309"/>
    <a:srgbClr val="ED0000"/>
    <a:srgbClr val="B207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301" y="-9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4489452"/>
            <a:ext cx="10363200" cy="9550400"/>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14408152"/>
            <a:ext cx="9144000" cy="6623048"/>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D33F1B4-16AA-4350-B9D9-743694343A47}" type="datetimeFigureOut">
              <a:rPr lang="en-IN" smtClean="0"/>
              <a:t>16-06-2025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2566820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33F1B4-16AA-4350-B9D9-743694343A47}" type="datetimeFigureOut">
              <a:rPr lang="en-IN" smtClean="0"/>
              <a:t>16-06-2025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2617395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6838958"/>
            <a:ext cx="10515600" cy="11410948"/>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18357858"/>
            <a:ext cx="10515600" cy="6000748"/>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33F1B4-16AA-4350-B9D9-743694343A47}" type="datetimeFigureOut">
              <a:rPr lang="en-IN" smtClean="0"/>
              <a:t>16-06-2025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1147418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7302500"/>
            <a:ext cx="51816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7302500"/>
            <a:ext cx="51816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D33F1B4-16AA-4350-B9D9-743694343A47}" type="datetimeFigureOut">
              <a:rPr lang="en-IN" smtClean="0"/>
              <a:t>16-06-2025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1334749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1460506"/>
            <a:ext cx="10515600" cy="530225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6724652"/>
            <a:ext cx="5157787" cy="3295648"/>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10020300"/>
            <a:ext cx="5157787"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6724652"/>
            <a:ext cx="5183188" cy="3295648"/>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10020300"/>
            <a:ext cx="5183188"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D33F1B4-16AA-4350-B9D9-743694343A47}" type="datetimeFigureOut">
              <a:rPr lang="en-IN" smtClean="0"/>
              <a:t>16-06-2025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304538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D33F1B4-16AA-4350-B9D9-743694343A47}" type="datetimeFigureOut">
              <a:rPr lang="en-IN" smtClean="0"/>
              <a:t>16-06-2025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3790320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33F1B4-16AA-4350-B9D9-743694343A47}" type="datetimeFigureOut">
              <a:rPr lang="en-IN" smtClean="0"/>
              <a:t>16-06-2025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1230348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828800"/>
            <a:ext cx="3932237" cy="64008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3949706"/>
            <a:ext cx="6172200" cy="19494500"/>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8229600"/>
            <a:ext cx="3932237" cy="1524635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0D33F1B4-16AA-4350-B9D9-743694343A47}" type="datetimeFigureOut">
              <a:rPr lang="en-IN" smtClean="0"/>
              <a:t>16-06-2025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758829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828800"/>
            <a:ext cx="3932237" cy="64008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3949706"/>
            <a:ext cx="6172200" cy="19494500"/>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8229600"/>
            <a:ext cx="3932237" cy="15246352"/>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0D33F1B4-16AA-4350-B9D9-743694343A47}" type="datetimeFigureOut">
              <a:rPr lang="en-IN" smtClean="0"/>
              <a:t>16-06-2025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1179304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33F1B4-16AA-4350-B9D9-743694343A47}" type="datetimeFigureOut">
              <a:rPr lang="en-IN" smtClean="0"/>
              <a:t>16-06-2025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3043904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1460500"/>
            <a:ext cx="2628900" cy="2324735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1460500"/>
            <a:ext cx="7734300" cy="232473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33F1B4-16AA-4350-B9D9-743694343A47}" type="datetimeFigureOut">
              <a:rPr lang="en-IN" smtClean="0"/>
              <a:t>16-06-2025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43DD81-27DC-45DC-9BFD-14DA57463E8A}" type="slidenum">
              <a:rPr lang="en-IN" smtClean="0"/>
              <a:t>‹#›</a:t>
            </a:fld>
            <a:endParaRPr lang="en-IN"/>
          </a:p>
        </p:txBody>
      </p:sp>
    </p:spTree>
    <p:extLst>
      <p:ext uri="{BB962C8B-B14F-4D97-AF65-F5344CB8AC3E}">
        <p14:creationId xmlns:p14="http://schemas.microsoft.com/office/powerpoint/2010/main" val="27932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460506"/>
            <a:ext cx="10515600" cy="530225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7302500"/>
            <a:ext cx="10515600" cy="17405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25425406"/>
            <a:ext cx="2743200" cy="1460500"/>
          </a:xfrm>
          <a:prstGeom prst="rect">
            <a:avLst/>
          </a:prstGeom>
        </p:spPr>
        <p:txBody>
          <a:bodyPr vert="horz" lIns="91440" tIns="45720" rIns="91440" bIns="45720" rtlCol="0" anchor="ctr"/>
          <a:lstStyle>
            <a:lvl1pPr algn="l">
              <a:defRPr sz="1600">
                <a:solidFill>
                  <a:schemeClr val="tx1">
                    <a:tint val="75000"/>
                  </a:schemeClr>
                </a:solidFill>
              </a:defRPr>
            </a:lvl1pPr>
          </a:lstStyle>
          <a:p>
            <a:fld id="{0D33F1B4-16AA-4350-B9D9-743694343A47}" type="datetimeFigureOut">
              <a:rPr lang="en-IN" smtClean="0"/>
              <a:t>16-06-2025</a:t>
            </a:fld>
            <a:endParaRPr lang="en-IN"/>
          </a:p>
        </p:txBody>
      </p:sp>
      <p:sp>
        <p:nvSpPr>
          <p:cNvPr id="5" name="Footer Placeholder 4"/>
          <p:cNvSpPr>
            <a:spLocks noGrp="1"/>
          </p:cNvSpPr>
          <p:nvPr>
            <p:ph type="ftr" sz="quarter" idx="3"/>
          </p:nvPr>
        </p:nvSpPr>
        <p:spPr>
          <a:xfrm>
            <a:off x="4038600" y="25425406"/>
            <a:ext cx="4114800" cy="1460500"/>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25425406"/>
            <a:ext cx="2743200" cy="1460500"/>
          </a:xfrm>
          <a:prstGeom prst="rect">
            <a:avLst/>
          </a:prstGeom>
        </p:spPr>
        <p:txBody>
          <a:bodyPr vert="horz" lIns="91440" tIns="45720" rIns="91440" bIns="45720" rtlCol="0" anchor="ctr"/>
          <a:lstStyle>
            <a:lvl1pPr algn="r">
              <a:defRPr sz="1600">
                <a:solidFill>
                  <a:schemeClr val="tx1">
                    <a:tint val="75000"/>
                  </a:schemeClr>
                </a:solidFill>
              </a:defRPr>
            </a:lvl1pPr>
          </a:lstStyle>
          <a:p>
            <a:fld id="{E743DD81-27DC-45DC-9BFD-14DA57463E8A}" type="slidenum">
              <a:rPr lang="en-IN" smtClean="0"/>
              <a:t>‹#›</a:t>
            </a:fld>
            <a:endParaRPr lang="en-IN"/>
          </a:p>
        </p:txBody>
      </p:sp>
    </p:spTree>
    <p:extLst>
      <p:ext uri="{BB962C8B-B14F-4D97-AF65-F5344CB8AC3E}">
        <p14:creationId xmlns:p14="http://schemas.microsoft.com/office/powerpoint/2010/main" val="392818320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47540">
              <a:srgbClr val="000000"/>
            </a:gs>
            <a:gs pos="69000">
              <a:srgbClr val="000000"/>
            </a:gs>
            <a:gs pos="100000">
              <a:srgbClr val="B20710">
                <a:lumMod val="60000"/>
              </a:srgbClr>
            </a:gs>
            <a:gs pos="32000">
              <a:schemeClr val="tx1"/>
            </a:gs>
            <a:gs pos="0">
              <a:schemeClr val="tx1">
                <a:lumMod val="50000"/>
                <a:lumOff val="50000"/>
              </a:schemeClr>
            </a:gs>
          </a:gsLst>
          <a:lin ang="16200000" scaled="0"/>
          <a:tileRect/>
        </a:gradFill>
        <a:effectLst/>
      </p:bgPr>
    </p:bg>
    <p:spTree>
      <p:nvGrpSpPr>
        <p:cNvPr id="1" name="">
          <a:extLst>
            <a:ext uri="{FF2B5EF4-FFF2-40B4-BE49-F238E27FC236}">
              <a16:creationId xmlns:a16="http://schemas.microsoft.com/office/drawing/2014/main" id="{F66C8F53-4070-3FAC-CBEB-4B80DF26250E}"/>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FD709F7-525E-27ED-D759-1F2C58220622}"/>
              </a:ext>
            </a:extLst>
          </p:cNvPr>
          <p:cNvSpPr/>
          <p:nvPr/>
        </p:nvSpPr>
        <p:spPr>
          <a:xfrm>
            <a:off x="548640" y="4444990"/>
            <a:ext cx="10901660" cy="2545090"/>
          </a:xfrm>
          <a:prstGeom prst="roundRect">
            <a:avLst>
              <a:gd name="adj" fmla="val 7224"/>
            </a:avLst>
          </a:prstGeom>
          <a:noFill/>
          <a:ln w="25400">
            <a:gradFill flip="none" rotWithShape="1">
              <a:gsLst>
                <a:gs pos="1000">
                  <a:srgbClr val="630309"/>
                </a:gs>
                <a:gs pos="30000">
                  <a:schemeClr val="tx1">
                    <a:lumMod val="95000"/>
                    <a:lumOff val="5000"/>
                  </a:schemeClr>
                </a:gs>
                <a:gs pos="65000">
                  <a:schemeClr val="tx1">
                    <a:lumMod val="95000"/>
                    <a:lumOff val="5000"/>
                  </a:schemeClr>
                </a:gs>
                <a:gs pos="100000">
                  <a:srgbClr val="630309"/>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03B403F6-D60C-F324-93DD-288855A37208}"/>
              </a:ext>
            </a:extLst>
          </p:cNvPr>
          <p:cNvSpPr/>
          <p:nvPr/>
        </p:nvSpPr>
        <p:spPr>
          <a:xfrm flipV="1">
            <a:off x="254835" y="219568"/>
            <a:ext cx="11528193" cy="26890133"/>
          </a:xfrm>
          <a:prstGeom prst="rect">
            <a:avLst/>
          </a:prstGeom>
          <a:noFill/>
          <a:ln w="38100">
            <a:gradFill>
              <a:gsLst>
                <a:gs pos="49649">
                  <a:srgbClr val="FF0000">
                    <a:alpha val="44000"/>
                  </a:srgbClr>
                </a:gs>
                <a:gs pos="0">
                  <a:schemeClr val="bg1">
                    <a:lumMod val="85000"/>
                  </a:schemeClr>
                </a:gs>
                <a:gs pos="32000">
                  <a:schemeClr val="tx1">
                    <a:lumMod val="75000"/>
                    <a:lumOff val="25000"/>
                  </a:schemeClr>
                </a:gs>
                <a:gs pos="69000">
                  <a:schemeClr val="bg1">
                    <a:lumMod val="75000"/>
                  </a:schemeClr>
                </a:gs>
                <a:gs pos="100000">
                  <a:schemeClr val="bg1">
                    <a:lumMod val="100000"/>
                    <a:alpha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7DEA16FD-244A-7A5F-BFAE-31E588BE6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627" y="578327"/>
            <a:ext cx="4314613" cy="1438205"/>
          </a:xfrm>
          <a:prstGeom prst="rect">
            <a:avLst/>
          </a:prstGeom>
        </p:spPr>
      </p:pic>
      <p:sp>
        <p:nvSpPr>
          <p:cNvPr id="2" name="TextBox 1">
            <a:extLst>
              <a:ext uri="{FF2B5EF4-FFF2-40B4-BE49-F238E27FC236}">
                <a16:creationId xmlns:a16="http://schemas.microsoft.com/office/drawing/2014/main" id="{9898DBC1-E943-A0B3-E362-364B809C5DAB}"/>
              </a:ext>
            </a:extLst>
          </p:cNvPr>
          <p:cNvSpPr txBox="1"/>
          <p:nvPr/>
        </p:nvSpPr>
        <p:spPr>
          <a:xfrm>
            <a:off x="4519068" y="578327"/>
            <a:ext cx="7332133" cy="1354217"/>
          </a:xfrm>
          <a:prstGeom prst="rect">
            <a:avLst/>
          </a:prstGeom>
          <a:noFill/>
        </p:spPr>
        <p:txBody>
          <a:bodyPr wrap="square" rtlCol="0">
            <a:spAutoFit/>
          </a:bodyPr>
          <a:lstStyle/>
          <a:p>
            <a:r>
              <a:rPr lang="en-US" sz="8200" b="1" dirty="0">
                <a:ln w="25400">
                  <a:gradFill>
                    <a:gsLst>
                      <a:gs pos="100000">
                        <a:schemeClr val="bg1"/>
                      </a:gs>
                      <a:gs pos="0">
                        <a:schemeClr val="accent1">
                          <a:lumMod val="5000"/>
                          <a:lumOff val="95000"/>
                        </a:schemeClr>
                      </a:gs>
                      <a:gs pos="50000">
                        <a:srgbClr val="FF0000">
                          <a:lumMod val="100000"/>
                        </a:srgbClr>
                      </a:gs>
                    </a:gsLst>
                    <a:lin ang="5400000" scaled="1"/>
                  </a:gradFill>
                </a:ln>
                <a:noFill/>
                <a:latin typeface="Bahnschrift Condensed" panose="020B0502040204020203" pitchFamily="34" charset="0"/>
              </a:rPr>
              <a:t>Analytics Dashboard</a:t>
            </a:r>
            <a:endParaRPr lang="en-IN" sz="8200" b="1" dirty="0">
              <a:ln w="25400">
                <a:gradFill>
                  <a:gsLst>
                    <a:gs pos="100000">
                      <a:schemeClr val="bg1"/>
                    </a:gs>
                    <a:gs pos="0">
                      <a:schemeClr val="accent1">
                        <a:lumMod val="5000"/>
                        <a:lumOff val="95000"/>
                      </a:schemeClr>
                    </a:gs>
                    <a:gs pos="50000">
                      <a:srgbClr val="FF0000">
                        <a:lumMod val="100000"/>
                      </a:srgbClr>
                    </a:gs>
                  </a:gsLst>
                  <a:lin ang="5400000" scaled="1"/>
                </a:gradFill>
              </a:ln>
              <a:noFill/>
              <a:latin typeface="Bahnschrift Condensed" panose="020B0502040204020203" pitchFamily="34" charset="0"/>
            </a:endParaRPr>
          </a:p>
        </p:txBody>
      </p:sp>
      <p:sp>
        <p:nvSpPr>
          <p:cNvPr id="7" name="TextBox 6">
            <a:extLst>
              <a:ext uri="{FF2B5EF4-FFF2-40B4-BE49-F238E27FC236}">
                <a16:creationId xmlns:a16="http://schemas.microsoft.com/office/drawing/2014/main" id="{64CCB790-2CA2-F156-5F7F-A4C54BC51B40}"/>
              </a:ext>
            </a:extLst>
          </p:cNvPr>
          <p:cNvSpPr txBox="1"/>
          <p:nvPr/>
        </p:nvSpPr>
        <p:spPr>
          <a:xfrm>
            <a:off x="391180" y="2318302"/>
            <a:ext cx="11252180" cy="1631216"/>
          </a:xfrm>
          <a:prstGeom prst="rect">
            <a:avLst/>
          </a:prstGeom>
          <a:noFill/>
        </p:spPr>
        <p:txBody>
          <a:bodyPr wrap="square" rtlCol="0">
            <a:spAutoFit/>
          </a:bodyPr>
          <a:lstStyle>
            <a:defPPr>
              <a:defRPr lang="en-US"/>
            </a:defPPr>
            <a:lvl1pPr>
              <a:defRPr sz="2000" b="1">
                <a:solidFill>
                  <a:schemeClr val="bg1"/>
                </a:solidFill>
                <a:latin typeface="Bahnschrift Condensed" panose="020B0502040204020203" pitchFamily="34" charset="0"/>
              </a:defRPr>
            </a:lvl1pPr>
          </a:lstStyle>
          <a:p>
            <a:pPr algn="just"/>
            <a:r>
              <a:rPr lang="en-US" dirty="0">
                <a:latin typeface="Arial Narrow" panose="020B0606020202030204" pitchFamily="34" charset="0"/>
              </a:rPr>
              <a:t>Welcome to the </a:t>
            </a:r>
            <a:r>
              <a:rPr lang="en-US" dirty="0">
                <a:solidFill>
                  <a:srgbClr val="FF0000"/>
                </a:solidFill>
                <a:latin typeface="Arial Narrow" panose="020B0606020202030204" pitchFamily="34" charset="0"/>
              </a:rPr>
              <a:t>Netflix Movies &amp; TV Shows Dashboard! </a:t>
            </a:r>
          </a:p>
          <a:p>
            <a:pPr algn="just"/>
            <a:r>
              <a:rPr lang="en-US" dirty="0">
                <a:latin typeface="Arial Narrow" panose="020B0606020202030204" pitchFamily="34" charset="0"/>
              </a:rPr>
              <a:t>This report offers a comprehensive overview of Netflix’s content library, highlighting distribution by rating groups, genre-wise trends in average ratings and title counts, and global engagement metrics. Dive into the interactive visuals to uncover patterns in viewer preferences, regional popularity, and content performance across the platform.</a:t>
            </a:r>
            <a:endParaRPr lang="en-IN" dirty="0">
              <a:latin typeface="Arial Narrow" panose="020B0606020202030204" pitchFamily="34" charset="0"/>
            </a:endParaRPr>
          </a:p>
        </p:txBody>
      </p:sp>
      <p:sp>
        <p:nvSpPr>
          <p:cNvPr id="8" name="TextBox 7">
            <a:extLst>
              <a:ext uri="{FF2B5EF4-FFF2-40B4-BE49-F238E27FC236}">
                <a16:creationId xmlns:a16="http://schemas.microsoft.com/office/drawing/2014/main" id="{6111D315-BC52-0C46-A311-8EDC82607A85}"/>
              </a:ext>
            </a:extLst>
          </p:cNvPr>
          <p:cNvSpPr txBox="1"/>
          <p:nvPr/>
        </p:nvSpPr>
        <p:spPr>
          <a:xfrm>
            <a:off x="408972" y="1918192"/>
            <a:ext cx="11510401" cy="338554"/>
          </a:xfrm>
          <a:prstGeom prst="rect">
            <a:avLst/>
          </a:prstGeom>
          <a:noFill/>
        </p:spPr>
        <p:txBody>
          <a:bodyPr wrap="square" rtlCol="0">
            <a:spAutoFit/>
          </a:bodyPr>
          <a:lstStyle/>
          <a:p>
            <a:pPr algn="ctr"/>
            <a:r>
              <a:rPr lang="en-US" sz="1600" b="1" i="1" spc="120" dirty="0">
                <a:solidFill>
                  <a:schemeClr val="bg1"/>
                </a:solidFill>
                <a:latin typeface="Bahnschrift Condensed" panose="020B0502040204020203" pitchFamily="34" charset="0"/>
              </a:rPr>
              <a:t>Uncovering Global Content Trends and Viewer Insights!</a:t>
            </a:r>
            <a:endParaRPr lang="en-IN" sz="1600" b="1" i="1" spc="120" dirty="0">
              <a:solidFill>
                <a:schemeClr val="bg1"/>
              </a:solidFill>
              <a:latin typeface="Bahnschrift Condensed" panose="020B0502040204020203" pitchFamily="34" charset="0"/>
            </a:endParaRPr>
          </a:p>
        </p:txBody>
      </p:sp>
      <p:sp>
        <p:nvSpPr>
          <p:cNvPr id="3" name="Rectangle: Rounded Corners 2">
            <a:extLst>
              <a:ext uri="{FF2B5EF4-FFF2-40B4-BE49-F238E27FC236}">
                <a16:creationId xmlns:a16="http://schemas.microsoft.com/office/drawing/2014/main" id="{FB871A81-6AC8-1C47-7F8F-8DD839DDA7BB}"/>
              </a:ext>
            </a:extLst>
          </p:cNvPr>
          <p:cNvSpPr/>
          <p:nvPr/>
        </p:nvSpPr>
        <p:spPr>
          <a:xfrm>
            <a:off x="741701" y="4556760"/>
            <a:ext cx="3373100" cy="2341880"/>
          </a:xfrm>
          <a:prstGeom prst="roundRect">
            <a:avLst>
              <a:gd name="adj" fmla="val 5954"/>
            </a:avLst>
          </a:prstGeom>
          <a:gradFill flip="none" rotWithShape="1">
            <a:gsLst>
              <a:gs pos="69000">
                <a:srgbClr val="000000"/>
              </a:gs>
              <a:gs pos="100000">
                <a:srgbClr val="B20710">
                  <a:lumMod val="60000"/>
                </a:srgbClr>
              </a:gs>
              <a:gs pos="32000">
                <a:schemeClr val="tx1"/>
              </a:gs>
              <a:gs pos="0">
                <a:schemeClr val="tx1">
                  <a:lumMod val="50000"/>
                  <a:lumOff val="5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FF0000"/>
                </a:solidFill>
                <a:latin typeface="Arial Narrow" panose="020B0606020202030204" pitchFamily="34" charset="0"/>
                <a:cs typeface="Segoe UI" panose="020B0502040204020203" pitchFamily="34" charset="0"/>
              </a:rPr>
              <a:t>Fun Fact!</a:t>
            </a:r>
          </a:p>
          <a:p>
            <a:pPr algn="ctr"/>
            <a:endParaRPr lang="en-US" sz="900" b="1" dirty="0">
              <a:solidFill>
                <a:srgbClr val="FF0000"/>
              </a:solidFill>
              <a:latin typeface="Arial Narrow" panose="020B0606020202030204" pitchFamily="34" charset="0"/>
              <a:cs typeface="Segoe UI" panose="020B0502040204020203" pitchFamily="34" charset="0"/>
            </a:endParaRPr>
          </a:p>
          <a:p>
            <a:r>
              <a:rPr lang="en-US" sz="1600" b="1" i="1" dirty="0">
                <a:latin typeface="Arial Narrow" panose="020B0606020202030204" pitchFamily="34" charset="0"/>
                <a:cs typeface="Segoe UI" panose="020B0502040204020203" pitchFamily="34" charset="0"/>
              </a:rPr>
              <a:t>Netflix almost got sold to Blockbuster for just $50 million in 2000!</a:t>
            </a:r>
          </a:p>
          <a:p>
            <a:br>
              <a:rPr lang="en-US" sz="900" dirty="0">
                <a:latin typeface="Arial Narrow" panose="020B0606020202030204" pitchFamily="34" charset="0"/>
                <a:cs typeface="Segoe UI" panose="020B0502040204020203" pitchFamily="34" charset="0"/>
              </a:rPr>
            </a:br>
            <a:r>
              <a:rPr lang="en-US" sz="1400" dirty="0">
                <a:latin typeface="Arial Narrow" panose="020B0606020202030204" pitchFamily="34" charset="0"/>
                <a:cs typeface="Segoe UI" panose="020B0502040204020203" pitchFamily="34" charset="0"/>
              </a:rPr>
              <a:t>Netflix's founders pitched the idea to Blockbuster to buy them out, but Blockbuster laughed them out of the room. Today, Netflix is worth over $150 billion—and Blockbuster has just one store left!</a:t>
            </a:r>
          </a:p>
        </p:txBody>
      </p:sp>
      <p:sp>
        <p:nvSpPr>
          <p:cNvPr id="5" name="Oval 4">
            <a:extLst>
              <a:ext uri="{FF2B5EF4-FFF2-40B4-BE49-F238E27FC236}">
                <a16:creationId xmlns:a16="http://schemas.microsoft.com/office/drawing/2014/main" id="{5AA82CD9-8EA9-F13D-48F1-A93821E06BAE}"/>
              </a:ext>
            </a:extLst>
          </p:cNvPr>
          <p:cNvSpPr/>
          <p:nvPr/>
        </p:nvSpPr>
        <p:spPr>
          <a:xfrm>
            <a:off x="548640" y="4088130"/>
            <a:ext cx="754380" cy="754380"/>
          </a:xfrm>
          <a:prstGeom prst="ellipse">
            <a:avLst/>
          </a:prstGeom>
          <a:solidFill>
            <a:schemeClr val="tx1">
              <a:lumMod val="95000"/>
              <a:lumOff val="5000"/>
            </a:schemeClr>
          </a:solidFill>
          <a:ln w="25400">
            <a:gradFill>
              <a:gsLst>
                <a:gs pos="0">
                  <a:schemeClr val="tx1">
                    <a:lumMod val="95000"/>
                    <a:lumOff val="5000"/>
                  </a:schemeClr>
                </a:gs>
                <a:gs pos="100000">
                  <a:srgbClr val="B20710"/>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Narrow" panose="020B0606020202030204" pitchFamily="34" charset="0"/>
              </a:rPr>
              <a:t>01</a:t>
            </a:r>
            <a:endParaRPr lang="en-IN" sz="2800" b="1" dirty="0">
              <a:latin typeface="Arial Narrow" panose="020B0606020202030204" pitchFamily="34" charset="0"/>
            </a:endParaRPr>
          </a:p>
        </p:txBody>
      </p:sp>
      <p:sp>
        <p:nvSpPr>
          <p:cNvPr id="9" name="Rectangle: Rounded Corners 8">
            <a:extLst>
              <a:ext uri="{FF2B5EF4-FFF2-40B4-BE49-F238E27FC236}">
                <a16:creationId xmlns:a16="http://schemas.microsoft.com/office/drawing/2014/main" id="{7AC6C1AA-F0D8-3B37-1A56-FE4915B73481}"/>
              </a:ext>
            </a:extLst>
          </p:cNvPr>
          <p:cNvSpPr/>
          <p:nvPr/>
        </p:nvSpPr>
        <p:spPr>
          <a:xfrm>
            <a:off x="548640" y="7614910"/>
            <a:ext cx="10901660" cy="3764290"/>
          </a:xfrm>
          <a:prstGeom prst="roundRect">
            <a:avLst>
              <a:gd name="adj" fmla="val 7224"/>
            </a:avLst>
          </a:prstGeom>
          <a:noFill/>
          <a:ln w="25400">
            <a:gradFill flip="none" rotWithShape="1">
              <a:gsLst>
                <a:gs pos="1000">
                  <a:srgbClr val="630309"/>
                </a:gs>
                <a:gs pos="30000">
                  <a:schemeClr val="tx1">
                    <a:lumMod val="95000"/>
                    <a:lumOff val="5000"/>
                  </a:schemeClr>
                </a:gs>
                <a:gs pos="65000">
                  <a:schemeClr val="tx1">
                    <a:lumMod val="95000"/>
                    <a:lumOff val="5000"/>
                  </a:schemeClr>
                </a:gs>
                <a:gs pos="100000">
                  <a:srgbClr val="630309"/>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D1E3ABE7-FA46-F42B-E8FA-27716EE9B4FB}"/>
              </a:ext>
            </a:extLst>
          </p:cNvPr>
          <p:cNvSpPr/>
          <p:nvPr/>
        </p:nvSpPr>
        <p:spPr>
          <a:xfrm flipH="1">
            <a:off x="7894341" y="7726680"/>
            <a:ext cx="3373100" cy="3357880"/>
          </a:xfrm>
          <a:prstGeom prst="roundRect">
            <a:avLst>
              <a:gd name="adj" fmla="val 5954"/>
            </a:avLst>
          </a:prstGeom>
          <a:gradFill flip="none" rotWithShape="1">
            <a:gsLst>
              <a:gs pos="69000">
                <a:srgbClr val="000000"/>
              </a:gs>
              <a:gs pos="100000">
                <a:srgbClr val="B20710">
                  <a:lumMod val="60000"/>
                </a:srgbClr>
              </a:gs>
              <a:gs pos="32000">
                <a:schemeClr val="tx1"/>
              </a:gs>
              <a:gs pos="0">
                <a:schemeClr val="tx1">
                  <a:lumMod val="50000"/>
                  <a:lumOff val="5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F0000"/>
              </a:solidFill>
              <a:latin typeface="Arial Narrow" panose="020B0606020202030204" pitchFamily="34" charset="0"/>
              <a:cs typeface="Segoe UI" panose="020B0502040204020203" pitchFamily="34" charset="0"/>
            </a:endParaRPr>
          </a:p>
          <a:p>
            <a:pPr algn="ctr"/>
            <a:r>
              <a:rPr lang="en-US" sz="1600" b="1" dirty="0">
                <a:solidFill>
                  <a:srgbClr val="FF0000"/>
                </a:solidFill>
                <a:latin typeface="Arial Narrow" panose="020B0606020202030204" pitchFamily="34" charset="0"/>
                <a:cs typeface="Segoe UI" panose="020B0502040204020203" pitchFamily="34" charset="0"/>
              </a:rPr>
              <a:t>The iPhone’s First Day’s Without Netflix</a:t>
            </a:r>
          </a:p>
          <a:p>
            <a:pPr algn="ctr"/>
            <a:endParaRPr lang="en-US" sz="900" b="1" dirty="0">
              <a:solidFill>
                <a:srgbClr val="FF0000"/>
              </a:solidFill>
              <a:latin typeface="Arial Narrow" panose="020B0606020202030204" pitchFamily="34" charset="0"/>
              <a:cs typeface="Segoe UI" panose="020B0502040204020203" pitchFamily="34" charset="0"/>
            </a:endParaRPr>
          </a:p>
          <a:p>
            <a:r>
              <a:rPr lang="en-US" sz="1600" b="1" i="1" dirty="0">
                <a:latin typeface="Arial Narrow" panose="020B0606020202030204" pitchFamily="34" charset="0"/>
                <a:cs typeface="Segoe UI" panose="020B0502040204020203" pitchFamily="34" charset="0"/>
              </a:rPr>
              <a:t>Netflix almost missed out on iPhone Glory in 2007</a:t>
            </a:r>
          </a:p>
          <a:p>
            <a:br>
              <a:rPr lang="en-US" sz="900" dirty="0">
                <a:latin typeface="Arial Narrow" panose="020B0606020202030204" pitchFamily="34" charset="0"/>
                <a:cs typeface="Segoe UI" panose="020B0502040204020203" pitchFamily="34" charset="0"/>
              </a:rPr>
            </a:br>
            <a:r>
              <a:rPr lang="en-US" sz="1400" dirty="0"/>
              <a:t>Netflix almost skipped creating an iPhone app, but thankfully they didn’t, setting them up as a leader in </a:t>
            </a:r>
            <a:r>
              <a:rPr lang="en-US" sz="1400" b="1" dirty="0"/>
              <a:t>mobile streaming</a:t>
            </a:r>
            <a:r>
              <a:rPr lang="en-US" sz="1400" dirty="0"/>
              <a:t>.</a:t>
            </a:r>
            <a:endParaRPr lang="en-US" sz="1400" dirty="0">
              <a:latin typeface="Arial Narrow" panose="020B0606020202030204" pitchFamily="34" charset="0"/>
              <a:cs typeface="Segoe UI" panose="020B0502040204020203" pitchFamily="34" charset="0"/>
            </a:endParaRPr>
          </a:p>
        </p:txBody>
      </p:sp>
      <p:sp>
        <p:nvSpPr>
          <p:cNvPr id="12" name="Oval 11">
            <a:extLst>
              <a:ext uri="{FF2B5EF4-FFF2-40B4-BE49-F238E27FC236}">
                <a16:creationId xmlns:a16="http://schemas.microsoft.com/office/drawing/2014/main" id="{DBE53F80-CEB5-347C-90EE-7D35728F9D80}"/>
              </a:ext>
            </a:extLst>
          </p:cNvPr>
          <p:cNvSpPr/>
          <p:nvPr/>
        </p:nvSpPr>
        <p:spPr>
          <a:xfrm>
            <a:off x="10581234" y="7258050"/>
            <a:ext cx="754380" cy="754380"/>
          </a:xfrm>
          <a:prstGeom prst="ellipse">
            <a:avLst/>
          </a:prstGeom>
          <a:solidFill>
            <a:schemeClr val="tx1">
              <a:lumMod val="95000"/>
              <a:lumOff val="5000"/>
            </a:schemeClr>
          </a:solidFill>
          <a:ln w="25400">
            <a:gradFill>
              <a:gsLst>
                <a:gs pos="0">
                  <a:schemeClr val="tx1">
                    <a:lumMod val="95000"/>
                    <a:lumOff val="5000"/>
                  </a:schemeClr>
                </a:gs>
                <a:gs pos="100000">
                  <a:srgbClr val="B20710"/>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Narrow" panose="020B0606020202030204" pitchFamily="34" charset="0"/>
              </a:rPr>
              <a:t>02</a:t>
            </a:r>
            <a:endParaRPr lang="en-IN" sz="2800" b="1" dirty="0">
              <a:latin typeface="Arial Narrow" panose="020B0606020202030204" pitchFamily="34" charset="0"/>
            </a:endParaRPr>
          </a:p>
        </p:txBody>
      </p:sp>
      <p:pic>
        <p:nvPicPr>
          <p:cNvPr id="14" name="Picture 13">
            <a:extLst>
              <a:ext uri="{FF2B5EF4-FFF2-40B4-BE49-F238E27FC236}">
                <a16:creationId xmlns:a16="http://schemas.microsoft.com/office/drawing/2014/main" id="{25AD3115-65A4-57DF-721E-73A9B09761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5285" y="7887768"/>
            <a:ext cx="1138112" cy="1138112"/>
          </a:xfrm>
          <a:prstGeom prst="rect">
            <a:avLst/>
          </a:prstGeom>
        </p:spPr>
      </p:pic>
      <p:pic>
        <p:nvPicPr>
          <p:cNvPr id="1028" name="Picture 4" descr="apple icon">
            <a:extLst>
              <a:ext uri="{FF2B5EF4-FFF2-40B4-BE49-F238E27FC236}">
                <a16:creationId xmlns:a16="http://schemas.microsoft.com/office/drawing/2014/main" id="{41750B12-DF9B-F783-9A21-71C564365C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3297" y="10342859"/>
            <a:ext cx="1393200" cy="1393200"/>
          </a:xfrm>
          <a:prstGeom prst="rect">
            <a:avLst/>
          </a:prstGeom>
          <a:noFill/>
          <a:extLst>
            <a:ext uri="{909E8E84-426E-40DD-AFC4-6F175D3DCCD1}">
              <a14:hiddenFill xmlns:a14="http://schemas.microsoft.com/office/drawing/2010/main">
                <a:solidFill>
                  <a:srgbClr val="FFFFFF"/>
                </a:solidFill>
              </a14:hiddenFill>
            </a:ext>
          </a:extLst>
        </p:spPr>
      </p:pic>
      <p:cxnSp>
        <p:nvCxnSpPr>
          <p:cNvPr id="18" name="Straight Connector 17">
            <a:extLst>
              <a:ext uri="{FF2B5EF4-FFF2-40B4-BE49-F238E27FC236}">
                <a16:creationId xmlns:a16="http://schemas.microsoft.com/office/drawing/2014/main" id="{11AB780F-46C5-C4AD-E81E-CC6282F40BF6}"/>
              </a:ext>
            </a:extLst>
          </p:cNvPr>
          <p:cNvCxnSpPr>
            <a:cxnSpLocks/>
          </p:cNvCxnSpPr>
          <p:nvPr/>
        </p:nvCxnSpPr>
        <p:spPr>
          <a:xfrm>
            <a:off x="7768342" y="9356957"/>
            <a:ext cx="0" cy="1489700"/>
          </a:xfrm>
          <a:prstGeom prst="line">
            <a:avLst/>
          </a:prstGeom>
          <a:ln>
            <a:gradFill>
              <a:gsLst>
                <a:gs pos="79711">
                  <a:schemeClr val="tx1">
                    <a:lumMod val="95000"/>
                    <a:lumOff val="5000"/>
                  </a:schemeClr>
                </a:gs>
                <a:gs pos="79000">
                  <a:schemeClr val="bg2">
                    <a:lumMod val="10000"/>
                  </a:schemeClr>
                </a:gs>
                <a:gs pos="97203">
                  <a:srgbClr val="ED0000"/>
                </a:gs>
                <a:gs pos="39000">
                  <a:srgbClr val="ED0000"/>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3ABFA1-4DE8-E1F7-72BF-DB10753B5778}"/>
              </a:ext>
            </a:extLst>
          </p:cNvPr>
          <p:cNvCxnSpPr>
            <a:cxnSpLocks/>
          </p:cNvCxnSpPr>
          <p:nvPr/>
        </p:nvCxnSpPr>
        <p:spPr>
          <a:xfrm flipH="1">
            <a:off x="8085954" y="11273255"/>
            <a:ext cx="2289170" cy="0"/>
          </a:xfrm>
          <a:prstGeom prst="line">
            <a:avLst/>
          </a:prstGeom>
          <a:ln>
            <a:gradFill>
              <a:gsLst>
                <a:gs pos="79711">
                  <a:schemeClr val="tx1">
                    <a:lumMod val="95000"/>
                    <a:lumOff val="5000"/>
                  </a:schemeClr>
                </a:gs>
                <a:gs pos="11000">
                  <a:schemeClr val="bg2">
                    <a:lumMod val="10000"/>
                  </a:schemeClr>
                </a:gs>
                <a:gs pos="97203">
                  <a:srgbClr val="ED0000"/>
                </a:gs>
                <a:gs pos="70000">
                  <a:srgbClr val="630309"/>
                </a:gs>
                <a:gs pos="0">
                  <a:srgbClr val="ED0000"/>
                </a:gs>
              </a:gsLst>
              <a:lin ang="5400000" scaled="1"/>
            </a:gradFill>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5840226B-F5FC-91FD-178F-1FB5E7E10972}"/>
              </a:ext>
            </a:extLst>
          </p:cNvPr>
          <p:cNvSpPr/>
          <p:nvPr/>
        </p:nvSpPr>
        <p:spPr>
          <a:xfrm rot="11479521">
            <a:off x="7805037" y="10509717"/>
            <a:ext cx="505100" cy="752175"/>
          </a:xfrm>
          <a:prstGeom prst="arc">
            <a:avLst>
              <a:gd name="adj1" fmla="val 16200000"/>
              <a:gd name="adj2" fmla="val 21252983"/>
            </a:avLst>
          </a:prstGeom>
          <a:ln>
            <a:gradFill>
              <a:gsLst>
                <a:gs pos="18000">
                  <a:srgbClr val="630309"/>
                </a:gs>
                <a:gs pos="43000">
                  <a:schemeClr val="tx1">
                    <a:lumMod val="95000"/>
                    <a:lumOff val="5000"/>
                  </a:schemeClr>
                </a:gs>
                <a:gs pos="0">
                  <a:srgbClr val="ED0000"/>
                </a:gs>
                <a:gs pos="74000">
                  <a:schemeClr val="tx1">
                    <a:lumMod val="95000"/>
                    <a:lumOff val="5000"/>
                  </a:schemeClr>
                </a:gs>
                <a:gs pos="83000">
                  <a:schemeClr val="tx1">
                    <a:lumMod val="95000"/>
                    <a:lumOff val="5000"/>
                  </a:schemeClr>
                </a:gs>
                <a:gs pos="100000">
                  <a:srgbClr val="630309"/>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3EC14E80-FE5D-4869-3548-B1A7312BA881}"/>
              </a:ext>
            </a:extLst>
          </p:cNvPr>
          <p:cNvSpPr/>
          <p:nvPr/>
        </p:nvSpPr>
        <p:spPr>
          <a:xfrm flipH="1" flipV="1">
            <a:off x="741700" y="12171727"/>
            <a:ext cx="3845539" cy="5834917"/>
          </a:xfrm>
          <a:prstGeom prst="roundRect">
            <a:avLst>
              <a:gd name="adj" fmla="val 5954"/>
            </a:avLst>
          </a:prstGeom>
          <a:gradFill flip="none" rotWithShape="1">
            <a:gsLst>
              <a:gs pos="69000">
                <a:srgbClr val="000000"/>
              </a:gs>
              <a:gs pos="100000">
                <a:srgbClr val="B20710">
                  <a:lumMod val="60000"/>
                </a:srgbClr>
              </a:gs>
              <a:gs pos="32000">
                <a:schemeClr val="tx1"/>
              </a:gs>
              <a:gs pos="0">
                <a:schemeClr val="tx1">
                  <a:lumMod val="50000"/>
                  <a:lumOff val="5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latin typeface="Arial Narrow" panose="020B0606020202030204" pitchFamily="34" charset="0"/>
              <a:cs typeface="Segoe UI" panose="020B0502040204020203" pitchFamily="34" charset="0"/>
            </a:endParaRPr>
          </a:p>
        </p:txBody>
      </p:sp>
      <p:sp>
        <p:nvSpPr>
          <p:cNvPr id="25" name="Oval 24">
            <a:extLst>
              <a:ext uri="{FF2B5EF4-FFF2-40B4-BE49-F238E27FC236}">
                <a16:creationId xmlns:a16="http://schemas.microsoft.com/office/drawing/2014/main" id="{4D10FC30-8BE6-DC8C-B2BF-9B6889D6CA7B}"/>
              </a:ext>
            </a:extLst>
          </p:cNvPr>
          <p:cNvSpPr/>
          <p:nvPr/>
        </p:nvSpPr>
        <p:spPr>
          <a:xfrm>
            <a:off x="548640" y="12004030"/>
            <a:ext cx="754380" cy="754380"/>
          </a:xfrm>
          <a:prstGeom prst="ellipse">
            <a:avLst/>
          </a:prstGeom>
          <a:solidFill>
            <a:schemeClr val="tx1">
              <a:lumMod val="95000"/>
              <a:lumOff val="5000"/>
            </a:schemeClr>
          </a:solidFill>
          <a:ln w="25400">
            <a:gradFill>
              <a:gsLst>
                <a:gs pos="0">
                  <a:schemeClr val="tx1">
                    <a:lumMod val="95000"/>
                    <a:lumOff val="5000"/>
                  </a:schemeClr>
                </a:gs>
                <a:gs pos="100000">
                  <a:srgbClr val="B20710"/>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Narrow" panose="020B0606020202030204" pitchFamily="34" charset="0"/>
              </a:rPr>
              <a:t>03</a:t>
            </a:r>
            <a:endParaRPr lang="en-IN" sz="2800" b="1" dirty="0">
              <a:latin typeface="Arial Narrow" panose="020B0606020202030204" pitchFamily="34" charset="0"/>
            </a:endParaRPr>
          </a:p>
        </p:txBody>
      </p:sp>
      <p:cxnSp>
        <p:nvCxnSpPr>
          <p:cNvPr id="26" name="Straight Connector 25">
            <a:extLst>
              <a:ext uri="{FF2B5EF4-FFF2-40B4-BE49-F238E27FC236}">
                <a16:creationId xmlns:a16="http://schemas.microsoft.com/office/drawing/2014/main" id="{E544570F-7D7F-C617-E7D0-8974B0896679}"/>
              </a:ext>
            </a:extLst>
          </p:cNvPr>
          <p:cNvCxnSpPr>
            <a:cxnSpLocks/>
          </p:cNvCxnSpPr>
          <p:nvPr/>
        </p:nvCxnSpPr>
        <p:spPr>
          <a:xfrm>
            <a:off x="4716426" y="15191232"/>
            <a:ext cx="0" cy="2815412"/>
          </a:xfrm>
          <a:prstGeom prst="line">
            <a:avLst/>
          </a:prstGeom>
          <a:ln>
            <a:gradFill>
              <a:gsLst>
                <a:gs pos="0">
                  <a:srgbClr val="ED0000"/>
                </a:gs>
                <a:gs pos="74000">
                  <a:srgbClr val="630309"/>
                </a:gs>
                <a:gs pos="100000">
                  <a:schemeClr val="tx1">
                    <a:lumMod val="95000"/>
                    <a:lumOff val="500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7ED6F8B-20A7-036E-79F6-45242B8A5CB2}"/>
              </a:ext>
            </a:extLst>
          </p:cNvPr>
          <p:cNvCxnSpPr>
            <a:cxnSpLocks/>
          </p:cNvCxnSpPr>
          <p:nvPr/>
        </p:nvCxnSpPr>
        <p:spPr>
          <a:xfrm flipH="1">
            <a:off x="1817225" y="18190553"/>
            <a:ext cx="2576270" cy="0"/>
          </a:xfrm>
          <a:prstGeom prst="line">
            <a:avLst/>
          </a:prstGeom>
          <a:ln>
            <a:gradFill>
              <a:gsLst>
                <a:gs pos="79711">
                  <a:schemeClr val="tx1">
                    <a:lumMod val="95000"/>
                    <a:lumOff val="5000"/>
                  </a:schemeClr>
                </a:gs>
                <a:gs pos="11000">
                  <a:schemeClr val="bg2">
                    <a:lumMod val="10000"/>
                  </a:schemeClr>
                </a:gs>
                <a:gs pos="97203">
                  <a:srgbClr val="ED0000"/>
                </a:gs>
                <a:gs pos="70000">
                  <a:srgbClr val="630309"/>
                </a:gs>
                <a:gs pos="0">
                  <a:srgbClr val="ED0000"/>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Arc 30">
            <a:extLst>
              <a:ext uri="{FF2B5EF4-FFF2-40B4-BE49-F238E27FC236}">
                <a16:creationId xmlns:a16="http://schemas.microsoft.com/office/drawing/2014/main" id="{DD5273A4-2F15-0480-B68B-3BBFA63E94AA}"/>
              </a:ext>
            </a:extLst>
          </p:cNvPr>
          <p:cNvSpPr/>
          <p:nvPr/>
        </p:nvSpPr>
        <p:spPr>
          <a:xfrm rot="10120479" flipH="1">
            <a:off x="4183740" y="17442405"/>
            <a:ext cx="505100" cy="752175"/>
          </a:xfrm>
          <a:prstGeom prst="arc">
            <a:avLst>
              <a:gd name="adj1" fmla="val 16200000"/>
              <a:gd name="adj2" fmla="val 21252983"/>
            </a:avLst>
          </a:prstGeom>
          <a:ln>
            <a:gradFill>
              <a:gsLst>
                <a:gs pos="18000">
                  <a:srgbClr val="630309"/>
                </a:gs>
                <a:gs pos="43000">
                  <a:schemeClr val="tx1">
                    <a:lumMod val="95000"/>
                    <a:lumOff val="5000"/>
                  </a:schemeClr>
                </a:gs>
                <a:gs pos="0">
                  <a:srgbClr val="ED0000"/>
                </a:gs>
                <a:gs pos="74000">
                  <a:schemeClr val="tx1">
                    <a:lumMod val="95000"/>
                    <a:lumOff val="5000"/>
                  </a:schemeClr>
                </a:gs>
                <a:gs pos="83000">
                  <a:schemeClr val="tx1">
                    <a:lumMod val="95000"/>
                    <a:lumOff val="5000"/>
                  </a:schemeClr>
                </a:gs>
                <a:gs pos="100000">
                  <a:srgbClr val="630309"/>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4" name="TextBox 33">
            <a:extLst>
              <a:ext uri="{FF2B5EF4-FFF2-40B4-BE49-F238E27FC236}">
                <a16:creationId xmlns:a16="http://schemas.microsoft.com/office/drawing/2014/main" id="{94B8401C-7D44-9F40-39D1-979241541166}"/>
              </a:ext>
            </a:extLst>
          </p:cNvPr>
          <p:cNvSpPr txBox="1"/>
          <p:nvPr/>
        </p:nvSpPr>
        <p:spPr>
          <a:xfrm>
            <a:off x="843052" y="12879839"/>
            <a:ext cx="3593238" cy="338554"/>
          </a:xfrm>
          <a:prstGeom prst="rect">
            <a:avLst/>
          </a:prstGeom>
          <a:noFill/>
        </p:spPr>
        <p:txBody>
          <a:bodyPr wrap="square" rtlCol="0">
            <a:spAutoFit/>
          </a:bodyPr>
          <a:lstStyle/>
          <a:p>
            <a:pPr algn="ctr"/>
            <a:r>
              <a:rPr lang="en-US" sz="1600" b="1" dirty="0">
                <a:solidFill>
                  <a:srgbClr val="FF0000"/>
                </a:solidFill>
                <a:latin typeface="Arial Narrow" panose="020B0606020202030204" pitchFamily="34" charset="0"/>
              </a:rPr>
              <a:t>The Streaming Wars: The Battle of Titans</a:t>
            </a:r>
            <a:endParaRPr lang="en-IN" sz="1600" b="1" dirty="0">
              <a:solidFill>
                <a:srgbClr val="FF0000"/>
              </a:solidFill>
              <a:latin typeface="Arial Narrow" panose="020B0606020202030204" pitchFamily="34" charset="0"/>
            </a:endParaRPr>
          </a:p>
        </p:txBody>
      </p:sp>
      <p:sp>
        <p:nvSpPr>
          <p:cNvPr id="35" name="TextBox 34">
            <a:extLst>
              <a:ext uri="{FF2B5EF4-FFF2-40B4-BE49-F238E27FC236}">
                <a16:creationId xmlns:a16="http://schemas.microsoft.com/office/drawing/2014/main" id="{2FF4AE4B-0675-CA4E-977A-7B4572DE73E5}"/>
              </a:ext>
            </a:extLst>
          </p:cNvPr>
          <p:cNvSpPr txBox="1"/>
          <p:nvPr/>
        </p:nvSpPr>
        <p:spPr>
          <a:xfrm>
            <a:off x="2536142" y="13492205"/>
            <a:ext cx="1900148" cy="769441"/>
          </a:xfrm>
          <a:prstGeom prst="rect">
            <a:avLst/>
          </a:prstGeom>
          <a:noFill/>
        </p:spPr>
        <p:txBody>
          <a:bodyPr wrap="square" rtlCol="0">
            <a:spAutoFit/>
          </a:bodyPr>
          <a:lstStyle/>
          <a:p>
            <a:r>
              <a:rPr lang="en-US" sz="1600" b="1" dirty="0">
                <a:solidFill>
                  <a:srgbClr val="FF0000"/>
                </a:solidFill>
                <a:latin typeface="Arial Narrow" panose="020B0606020202030204" pitchFamily="34" charset="0"/>
              </a:rPr>
              <a:t>Netflix</a:t>
            </a:r>
            <a:br>
              <a:rPr lang="en-US" sz="1400" dirty="0">
                <a:solidFill>
                  <a:schemeClr val="bg1"/>
                </a:solidFill>
                <a:latin typeface="Arial Narrow" panose="020B0606020202030204" pitchFamily="34" charset="0"/>
              </a:rPr>
            </a:br>
            <a:r>
              <a:rPr lang="en-US" sz="1400" dirty="0">
                <a:solidFill>
                  <a:schemeClr val="bg1"/>
                </a:solidFill>
                <a:latin typeface="Arial Narrow" panose="020B0606020202030204" pitchFamily="34" charset="0"/>
              </a:rPr>
              <a:t>230 Million Subscribers $31.6 Billion Revenue</a:t>
            </a:r>
            <a:endParaRPr lang="en-IN" sz="1400" dirty="0">
              <a:solidFill>
                <a:schemeClr val="bg1"/>
              </a:solidFill>
              <a:latin typeface="Arial Narrow" panose="020B0606020202030204" pitchFamily="34" charset="0"/>
            </a:endParaRPr>
          </a:p>
        </p:txBody>
      </p:sp>
      <p:sp>
        <p:nvSpPr>
          <p:cNvPr id="36" name="TextBox 35">
            <a:extLst>
              <a:ext uri="{FF2B5EF4-FFF2-40B4-BE49-F238E27FC236}">
                <a16:creationId xmlns:a16="http://schemas.microsoft.com/office/drawing/2014/main" id="{22D5C2A6-D5AE-E1D7-B654-463C63B7C48C}"/>
              </a:ext>
            </a:extLst>
          </p:cNvPr>
          <p:cNvSpPr txBox="1"/>
          <p:nvPr/>
        </p:nvSpPr>
        <p:spPr>
          <a:xfrm>
            <a:off x="2536142" y="14355725"/>
            <a:ext cx="1900148" cy="769441"/>
          </a:xfrm>
          <a:prstGeom prst="rect">
            <a:avLst/>
          </a:prstGeom>
          <a:noFill/>
        </p:spPr>
        <p:txBody>
          <a:bodyPr wrap="square" rtlCol="0">
            <a:spAutoFit/>
          </a:bodyPr>
          <a:lstStyle/>
          <a:p>
            <a:r>
              <a:rPr lang="en-US" sz="1600" b="1" dirty="0">
                <a:solidFill>
                  <a:srgbClr val="00ABE5"/>
                </a:solidFill>
                <a:latin typeface="Arial Narrow" panose="020B0606020202030204" pitchFamily="34" charset="0"/>
              </a:rPr>
              <a:t>Amazon Prime Video</a:t>
            </a:r>
            <a:br>
              <a:rPr lang="en-US" sz="1400" dirty="0">
                <a:solidFill>
                  <a:schemeClr val="bg1"/>
                </a:solidFill>
                <a:latin typeface="Arial Narrow" panose="020B0606020202030204" pitchFamily="34" charset="0"/>
              </a:rPr>
            </a:br>
            <a:r>
              <a:rPr lang="en-US" sz="1400" dirty="0">
                <a:solidFill>
                  <a:schemeClr val="bg1"/>
                </a:solidFill>
                <a:latin typeface="Arial Narrow" panose="020B0606020202030204" pitchFamily="34" charset="0"/>
              </a:rPr>
              <a:t>200 Million + Subscribers $10.5 Billion Revenue</a:t>
            </a:r>
            <a:endParaRPr lang="en-IN" sz="1400" dirty="0">
              <a:solidFill>
                <a:schemeClr val="bg1"/>
              </a:solidFill>
              <a:latin typeface="Arial Narrow" panose="020B0606020202030204" pitchFamily="34" charset="0"/>
            </a:endParaRPr>
          </a:p>
        </p:txBody>
      </p:sp>
      <p:sp>
        <p:nvSpPr>
          <p:cNvPr id="37" name="TextBox 36">
            <a:extLst>
              <a:ext uri="{FF2B5EF4-FFF2-40B4-BE49-F238E27FC236}">
                <a16:creationId xmlns:a16="http://schemas.microsoft.com/office/drawing/2014/main" id="{BC96F5B0-EBC3-7324-B19B-32DC508FE06B}"/>
              </a:ext>
            </a:extLst>
          </p:cNvPr>
          <p:cNvSpPr txBox="1"/>
          <p:nvPr/>
        </p:nvSpPr>
        <p:spPr>
          <a:xfrm>
            <a:off x="2536142" y="15219245"/>
            <a:ext cx="1900148" cy="769441"/>
          </a:xfrm>
          <a:prstGeom prst="rect">
            <a:avLst/>
          </a:prstGeom>
          <a:noFill/>
        </p:spPr>
        <p:txBody>
          <a:bodyPr wrap="square" rtlCol="0">
            <a:spAutoFit/>
          </a:bodyPr>
          <a:lstStyle/>
          <a:p>
            <a:r>
              <a:rPr lang="en-US" sz="1600" b="1" dirty="0">
                <a:solidFill>
                  <a:srgbClr val="1CE783"/>
                </a:solidFill>
                <a:latin typeface="Arial Narrow" panose="020B0606020202030204" pitchFamily="34" charset="0"/>
              </a:rPr>
              <a:t>Hulu</a:t>
            </a:r>
            <a:br>
              <a:rPr lang="en-US" sz="1400" dirty="0">
                <a:solidFill>
                  <a:schemeClr val="bg1"/>
                </a:solidFill>
                <a:latin typeface="Arial Narrow" panose="020B0606020202030204" pitchFamily="34" charset="0"/>
              </a:rPr>
            </a:br>
            <a:r>
              <a:rPr lang="en-US" sz="1400" dirty="0">
                <a:solidFill>
                  <a:schemeClr val="bg1"/>
                </a:solidFill>
                <a:latin typeface="Arial Narrow" panose="020B0606020202030204" pitchFamily="34" charset="0"/>
              </a:rPr>
              <a:t>47 Million  Subscribers  $4.4 Billion Revenue</a:t>
            </a:r>
            <a:endParaRPr lang="en-IN" sz="1400" dirty="0">
              <a:solidFill>
                <a:schemeClr val="bg1"/>
              </a:solidFill>
              <a:latin typeface="Arial Narrow" panose="020B0606020202030204" pitchFamily="34" charset="0"/>
            </a:endParaRPr>
          </a:p>
        </p:txBody>
      </p:sp>
      <p:sp>
        <p:nvSpPr>
          <p:cNvPr id="38" name="TextBox 37">
            <a:extLst>
              <a:ext uri="{FF2B5EF4-FFF2-40B4-BE49-F238E27FC236}">
                <a16:creationId xmlns:a16="http://schemas.microsoft.com/office/drawing/2014/main" id="{3FF910A6-AC9E-F63A-097E-0D3BFE1D02BE}"/>
              </a:ext>
            </a:extLst>
          </p:cNvPr>
          <p:cNvSpPr txBox="1"/>
          <p:nvPr/>
        </p:nvSpPr>
        <p:spPr>
          <a:xfrm>
            <a:off x="2536142" y="16082765"/>
            <a:ext cx="1900148" cy="769441"/>
          </a:xfrm>
          <a:prstGeom prst="rect">
            <a:avLst/>
          </a:prstGeom>
          <a:noFill/>
        </p:spPr>
        <p:txBody>
          <a:bodyPr wrap="square" rtlCol="0">
            <a:spAutoFit/>
          </a:bodyPr>
          <a:lstStyle/>
          <a:p>
            <a:r>
              <a:rPr lang="en-US" sz="1600" b="1" dirty="0">
                <a:solidFill>
                  <a:srgbClr val="1AC1FF"/>
                </a:solidFill>
                <a:latin typeface="Arial Narrow" panose="020B0606020202030204" pitchFamily="34" charset="0"/>
              </a:rPr>
              <a:t>Disney +</a:t>
            </a:r>
            <a:br>
              <a:rPr lang="en-US" sz="1400" dirty="0">
                <a:solidFill>
                  <a:schemeClr val="bg1"/>
                </a:solidFill>
                <a:latin typeface="Arial Narrow" panose="020B0606020202030204" pitchFamily="34" charset="0"/>
              </a:rPr>
            </a:br>
            <a:r>
              <a:rPr lang="en-US" sz="1400" dirty="0">
                <a:solidFill>
                  <a:schemeClr val="bg1"/>
                </a:solidFill>
                <a:latin typeface="Arial Narrow" panose="020B0606020202030204" pitchFamily="34" charset="0"/>
              </a:rPr>
              <a:t>164 Million  Subscribers $5.5 Billion Revenue</a:t>
            </a:r>
            <a:endParaRPr lang="en-IN" sz="1400" dirty="0">
              <a:solidFill>
                <a:schemeClr val="bg1"/>
              </a:solidFill>
              <a:latin typeface="Arial Narrow" panose="020B0606020202030204" pitchFamily="34" charset="0"/>
            </a:endParaRPr>
          </a:p>
        </p:txBody>
      </p:sp>
      <p:sp>
        <p:nvSpPr>
          <p:cNvPr id="39" name="TextBox 38">
            <a:extLst>
              <a:ext uri="{FF2B5EF4-FFF2-40B4-BE49-F238E27FC236}">
                <a16:creationId xmlns:a16="http://schemas.microsoft.com/office/drawing/2014/main" id="{4CC3E1B1-89D6-FA74-C95A-157ED4D92DCF}"/>
              </a:ext>
            </a:extLst>
          </p:cNvPr>
          <p:cNvSpPr txBox="1"/>
          <p:nvPr/>
        </p:nvSpPr>
        <p:spPr>
          <a:xfrm>
            <a:off x="2536142" y="16946284"/>
            <a:ext cx="1900148" cy="769441"/>
          </a:xfrm>
          <a:prstGeom prst="rect">
            <a:avLst/>
          </a:prstGeom>
          <a:noFill/>
        </p:spPr>
        <p:txBody>
          <a:bodyPr wrap="square" rtlCol="0">
            <a:spAutoFit/>
          </a:bodyPr>
          <a:lstStyle/>
          <a:p>
            <a:r>
              <a:rPr lang="en-US" sz="1600" b="1" dirty="0">
                <a:solidFill>
                  <a:schemeClr val="bg1"/>
                </a:solidFill>
                <a:latin typeface="Arial Narrow" panose="020B0606020202030204" pitchFamily="34" charset="0"/>
              </a:rPr>
              <a:t>HBO Max</a:t>
            </a:r>
            <a:br>
              <a:rPr lang="en-US" sz="1400" dirty="0">
                <a:solidFill>
                  <a:schemeClr val="bg1"/>
                </a:solidFill>
                <a:latin typeface="Arial Narrow" panose="020B0606020202030204" pitchFamily="34" charset="0"/>
              </a:rPr>
            </a:br>
            <a:r>
              <a:rPr lang="en-US" sz="1400" dirty="0">
                <a:solidFill>
                  <a:schemeClr val="bg1"/>
                </a:solidFill>
                <a:latin typeface="Arial Narrow" panose="020B0606020202030204" pitchFamily="34" charset="0"/>
              </a:rPr>
              <a:t>90 Million  Subscribers/ $7.5 Billion Revenue</a:t>
            </a:r>
            <a:endParaRPr lang="en-IN" sz="1400" dirty="0">
              <a:solidFill>
                <a:schemeClr val="bg1"/>
              </a:solidFill>
              <a:latin typeface="Arial Narrow" panose="020B0606020202030204" pitchFamily="34" charset="0"/>
            </a:endParaRPr>
          </a:p>
        </p:txBody>
      </p:sp>
      <p:sp>
        <p:nvSpPr>
          <p:cNvPr id="40" name="TextBox 39">
            <a:extLst>
              <a:ext uri="{FF2B5EF4-FFF2-40B4-BE49-F238E27FC236}">
                <a16:creationId xmlns:a16="http://schemas.microsoft.com/office/drawing/2014/main" id="{98A9552F-EFAD-9B19-CDED-9CD6BDB9A4C4}"/>
              </a:ext>
            </a:extLst>
          </p:cNvPr>
          <p:cNvSpPr txBox="1"/>
          <p:nvPr/>
        </p:nvSpPr>
        <p:spPr>
          <a:xfrm>
            <a:off x="3653742" y="17719987"/>
            <a:ext cx="782548" cy="230832"/>
          </a:xfrm>
          <a:prstGeom prst="rect">
            <a:avLst/>
          </a:prstGeom>
          <a:noFill/>
        </p:spPr>
        <p:txBody>
          <a:bodyPr wrap="square" rtlCol="0">
            <a:spAutoFit/>
          </a:bodyPr>
          <a:lstStyle/>
          <a:p>
            <a:pPr algn="ctr"/>
            <a:r>
              <a:rPr lang="en-US" sz="900" b="1" dirty="0">
                <a:solidFill>
                  <a:srgbClr val="FF0000"/>
                </a:solidFill>
                <a:latin typeface="Arial Narrow" panose="020B0606020202030204" pitchFamily="34" charset="0"/>
              </a:rPr>
              <a:t>*2023 Data</a:t>
            </a:r>
            <a:endParaRPr lang="en-IN" sz="900" b="1" dirty="0">
              <a:solidFill>
                <a:srgbClr val="FF0000"/>
              </a:solidFill>
              <a:latin typeface="Arial Narrow" panose="020B0606020202030204" pitchFamily="34" charset="0"/>
            </a:endParaRPr>
          </a:p>
        </p:txBody>
      </p:sp>
      <p:pic>
        <p:nvPicPr>
          <p:cNvPr id="41" name="Picture 40">
            <a:extLst>
              <a:ext uri="{FF2B5EF4-FFF2-40B4-BE49-F238E27FC236}">
                <a16:creationId xmlns:a16="http://schemas.microsoft.com/office/drawing/2014/main" id="{95005298-32BC-EC79-6789-CA36E1894D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3052" y="13466522"/>
            <a:ext cx="790030" cy="790030"/>
          </a:xfrm>
          <a:prstGeom prst="rect">
            <a:avLst/>
          </a:prstGeom>
        </p:spPr>
      </p:pic>
      <p:pic>
        <p:nvPicPr>
          <p:cNvPr id="1030" name="Picture 6" descr="Amazon, prime, logo, brand icon - Free download">
            <a:extLst>
              <a:ext uri="{FF2B5EF4-FFF2-40B4-BE49-F238E27FC236}">
                <a16:creationId xmlns:a16="http://schemas.microsoft.com/office/drawing/2014/main" id="{2FC94F7D-0D73-F0EA-6633-B83F869E8F5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4492" y="14188128"/>
            <a:ext cx="1117686" cy="111768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06785DA9-6829-CE0C-22CB-A955E40FA4E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3131" y="14898719"/>
            <a:ext cx="1773011" cy="118200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53550DE8-6E90-A732-1067-E8C86FC7CA98}"/>
              </a:ext>
            </a:extLst>
          </p:cNvPr>
          <p:cNvPicPr>
            <a:picLocks noChangeAspect="1"/>
          </p:cNvPicPr>
          <p:nvPr/>
        </p:nvPicPr>
        <p:blipFill>
          <a:blip r:embed="rId8">
            <a:extLst>
              <a:ext uri="{BEBA8EAE-BF5A-486C-A8C5-ECC9F3942E4B}">
                <a14:imgProps xmlns:a14="http://schemas.microsoft.com/office/drawing/2010/main">
                  <a14:imgLayer r:embed="rId9">
                    <a14:imgEffect>
                      <a14:artisticPaintStrokes/>
                    </a14:imgEffect>
                  </a14:imgLayer>
                </a14:imgProps>
              </a:ext>
              <a:ext uri="{28A0092B-C50C-407E-A947-70E740481C1C}">
                <a14:useLocalDpi xmlns:a14="http://schemas.microsoft.com/office/drawing/2010/main" val="0"/>
              </a:ext>
            </a:extLst>
          </a:blip>
          <a:stretch>
            <a:fillRect/>
          </a:stretch>
        </p:blipFill>
        <p:spPr>
          <a:xfrm>
            <a:off x="647389" y="15745716"/>
            <a:ext cx="1888753" cy="1258854"/>
          </a:xfrm>
          <a:prstGeom prst="rect">
            <a:avLst/>
          </a:prstGeom>
        </p:spPr>
      </p:pic>
      <p:pic>
        <p:nvPicPr>
          <p:cNvPr id="48" name="Picture 47">
            <a:extLst>
              <a:ext uri="{FF2B5EF4-FFF2-40B4-BE49-F238E27FC236}">
                <a16:creationId xmlns:a16="http://schemas.microsoft.com/office/drawing/2014/main" id="{1540254D-4739-AFA6-D624-91D2F1FE20F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1287" y="16786628"/>
            <a:ext cx="1057976" cy="1057976"/>
          </a:xfrm>
          <a:prstGeom prst="rect">
            <a:avLst/>
          </a:prstGeom>
        </p:spPr>
      </p:pic>
      <p:sp>
        <p:nvSpPr>
          <p:cNvPr id="50" name="Rectangle: Rounded Corners 49">
            <a:extLst>
              <a:ext uri="{FF2B5EF4-FFF2-40B4-BE49-F238E27FC236}">
                <a16:creationId xmlns:a16="http://schemas.microsoft.com/office/drawing/2014/main" id="{50FF6F0C-8F4E-6F49-4BDE-C5AACE96BD88}"/>
              </a:ext>
            </a:extLst>
          </p:cNvPr>
          <p:cNvSpPr/>
          <p:nvPr/>
        </p:nvSpPr>
        <p:spPr>
          <a:xfrm>
            <a:off x="4897348" y="12171726"/>
            <a:ext cx="6552951" cy="6018827"/>
          </a:xfrm>
          <a:prstGeom prst="roundRect">
            <a:avLst>
              <a:gd name="adj" fmla="val 7224"/>
            </a:avLst>
          </a:prstGeom>
          <a:noFill/>
          <a:ln w="25400">
            <a:gradFill flip="none" rotWithShape="1">
              <a:gsLst>
                <a:gs pos="1000">
                  <a:srgbClr val="630309"/>
                </a:gs>
                <a:gs pos="30000">
                  <a:schemeClr val="tx1">
                    <a:lumMod val="95000"/>
                    <a:lumOff val="5000"/>
                  </a:schemeClr>
                </a:gs>
                <a:gs pos="65000">
                  <a:schemeClr val="tx1">
                    <a:lumMod val="95000"/>
                    <a:lumOff val="5000"/>
                  </a:schemeClr>
                </a:gs>
                <a:gs pos="100000">
                  <a:srgbClr val="630309"/>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D50EF977-4AAF-ACE0-5D58-626DE82881A8}"/>
              </a:ext>
            </a:extLst>
          </p:cNvPr>
          <p:cNvSpPr/>
          <p:nvPr/>
        </p:nvSpPr>
        <p:spPr>
          <a:xfrm>
            <a:off x="8156998" y="18626220"/>
            <a:ext cx="3373100" cy="2648820"/>
          </a:xfrm>
          <a:prstGeom prst="roundRect">
            <a:avLst>
              <a:gd name="adj" fmla="val 5954"/>
            </a:avLst>
          </a:prstGeom>
          <a:gradFill flip="none" rotWithShape="1">
            <a:gsLst>
              <a:gs pos="69000">
                <a:srgbClr val="000000"/>
              </a:gs>
              <a:gs pos="100000">
                <a:srgbClr val="B20710">
                  <a:lumMod val="60000"/>
                </a:srgbClr>
              </a:gs>
              <a:gs pos="32000">
                <a:schemeClr val="tx1"/>
              </a:gs>
              <a:gs pos="0">
                <a:schemeClr val="tx1">
                  <a:lumMod val="50000"/>
                  <a:lumOff val="5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FF0000"/>
                </a:solidFill>
                <a:latin typeface="Arial Narrow" panose="020B0606020202030204" pitchFamily="34" charset="0"/>
                <a:cs typeface="Segoe UI" panose="020B0502040204020203" pitchFamily="34" charset="0"/>
              </a:rPr>
              <a:t>Netflix Almost Became a Social Media Platform</a:t>
            </a:r>
          </a:p>
          <a:p>
            <a:br>
              <a:rPr lang="en-US" sz="900" dirty="0">
                <a:latin typeface="Arial Narrow" panose="020B0606020202030204" pitchFamily="34" charset="0"/>
                <a:cs typeface="Segoe UI" panose="020B0502040204020203" pitchFamily="34" charset="0"/>
              </a:rPr>
            </a:br>
            <a:r>
              <a:rPr lang="en-US" sz="1600" b="1" i="1" dirty="0">
                <a:latin typeface="Arial Narrow" panose="020B0606020202030204" pitchFamily="34" charset="0"/>
              </a:rPr>
              <a:t>They planned to be the “Facebook of movies.” Seriously.</a:t>
            </a:r>
          </a:p>
          <a:p>
            <a:endParaRPr lang="en-US" sz="1600" b="1" dirty="0">
              <a:latin typeface="Arial Narrow" panose="020B0606020202030204" pitchFamily="34" charset="0"/>
              <a:cs typeface="Segoe UI" panose="020B0502040204020203" pitchFamily="34" charset="0"/>
            </a:endParaRPr>
          </a:p>
          <a:p>
            <a:r>
              <a:rPr lang="en-US" sz="1400" dirty="0">
                <a:latin typeface="Arial Narrow" panose="020B0606020202030204" pitchFamily="34" charset="0"/>
              </a:rPr>
              <a:t>In 2007, Netflix considered creating a social platform where users could share reviews and recommendations. They quickly realized streaming was the real goldmine — and dropped the idea.</a:t>
            </a:r>
            <a:endParaRPr lang="en-US" sz="1400" b="1" dirty="0">
              <a:latin typeface="Arial Narrow" panose="020B0606020202030204" pitchFamily="34" charset="0"/>
              <a:cs typeface="Segoe UI" panose="020B0502040204020203" pitchFamily="34" charset="0"/>
            </a:endParaRPr>
          </a:p>
        </p:txBody>
      </p:sp>
      <p:sp>
        <p:nvSpPr>
          <p:cNvPr id="53" name="Oval 52">
            <a:extLst>
              <a:ext uri="{FF2B5EF4-FFF2-40B4-BE49-F238E27FC236}">
                <a16:creationId xmlns:a16="http://schemas.microsoft.com/office/drawing/2014/main" id="{3063CEB2-AB8A-4E2C-9C99-4647DA7F1741}"/>
              </a:ext>
            </a:extLst>
          </p:cNvPr>
          <p:cNvSpPr/>
          <p:nvPr/>
        </p:nvSpPr>
        <p:spPr>
          <a:xfrm>
            <a:off x="10902183" y="20669733"/>
            <a:ext cx="754380" cy="754380"/>
          </a:xfrm>
          <a:prstGeom prst="ellipse">
            <a:avLst/>
          </a:prstGeom>
          <a:solidFill>
            <a:schemeClr val="tx1">
              <a:lumMod val="95000"/>
              <a:lumOff val="5000"/>
            </a:schemeClr>
          </a:solidFill>
          <a:ln w="25400">
            <a:gradFill>
              <a:gsLst>
                <a:gs pos="0">
                  <a:schemeClr val="tx1">
                    <a:lumMod val="95000"/>
                    <a:lumOff val="5000"/>
                  </a:schemeClr>
                </a:gs>
                <a:gs pos="100000">
                  <a:srgbClr val="B20710"/>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Narrow" panose="020B0606020202030204" pitchFamily="34" charset="0"/>
              </a:rPr>
              <a:t>04</a:t>
            </a:r>
            <a:endParaRPr lang="en-IN" sz="2800" b="1" dirty="0">
              <a:latin typeface="Arial Narrow" panose="020B0606020202030204" pitchFamily="34" charset="0"/>
            </a:endParaRPr>
          </a:p>
        </p:txBody>
      </p:sp>
      <p:sp>
        <p:nvSpPr>
          <p:cNvPr id="54" name="Rectangle: Rounded Corners 53">
            <a:extLst>
              <a:ext uri="{FF2B5EF4-FFF2-40B4-BE49-F238E27FC236}">
                <a16:creationId xmlns:a16="http://schemas.microsoft.com/office/drawing/2014/main" id="{0DEBC67E-E74E-8FC4-2EAA-206C86358471}"/>
              </a:ext>
            </a:extLst>
          </p:cNvPr>
          <p:cNvSpPr/>
          <p:nvPr/>
        </p:nvSpPr>
        <p:spPr>
          <a:xfrm>
            <a:off x="535437" y="18643718"/>
            <a:ext cx="7368631" cy="2631322"/>
          </a:xfrm>
          <a:prstGeom prst="roundRect">
            <a:avLst>
              <a:gd name="adj" fmla="val 7224"/>
            </a:avLst>
          </a:prstGeom>
          <a:noFill/>
          <a:ln w="25400">
            <a:gradFill flip="none" rotWithShape="1">
              <a:gsLst>
                <a:gs pos="81000">
                  <a:schemeClr val="tx1">
                    <a:lumMod val="95000"/>
                    <a:lumOff val="5000"/>
                  </a:schemeClr>
                </a:gs>
                <a:gs pos="69000">
                  <a:schemeClr val="tx1">
                    <a:lumMod val="95000"/>
                    <a:lumOff val="5000"/>
                  </a:schemeClr>
                </a:gs>
                <a:gs pos="15000">
                  <a:schemeClr val="bg1">
                    <a:lumMod val="50000"/>
                  </a:schemeClr>
                </a:gs>
                <a:gs pos="100000">
                  <a:schemeClr val="tx1">
                    <a:lumMod val="95000"/>
                    <a:lumOff val="5000"/>
                  </a:schemeClr>
                </a:gs>
                <a:gs pos="100000">
                  <a:schemeClr val="bg1"/>
                </a:gs>
                <a:gs pos="33000">
                  <a:schemeClr val="tx1">
                    <a:lumMod val="75000"/>
                    <a:lumOff val="2500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Rounded Corners 56">
            <a:extLst>
              <a:ext uri="{FF2B5EF4-FFF2-40B4-BE49-F238E27FC236}">
                <a16:creationId xmlns:a16="http://schemas.microsoft.com/office/drawing/2014/main" id="{507B262C-2FED-E796-F2DC-6BC4BA42806B}"/>
              </a:ext>
            </a:extLst>
          </p:cNvPr>
          <p:cNvSpPr/>
          <p:nvPr/>
        </p:nvSpPr>
        <p:spPr>
          <a:xfrm>
            <a:off x="509855" y="21543550"/>
            <a:ext cx="3373100" cy="2725538"/>
          </a:xfrm>
          <a:prstGeom prst="roundRect">
            <a:avLst>
              <a:gd name="adj" fmla="val 5954"/>
            </a:avLst>
          </a:prstGeom>
          <a:gradFill flip="none" rotWithShape="1">
            <a:gsLst>
              <a:gs pos="69000">
                <a:srgbClr val="000000"/>
              </a:gs>
              <a:gs pos="0">
                <a:srgbClr val="B20710">
                  <a:lumMod val="60000"/>
                </a:srgbClr>
              </a:gs>
              <a:gs pos="32000">
                <a:schemeClr val="tx1"/>
              </a:gs>
              <a:gs pos="100000">
                <a:schemeClr val="tx1">
                  <a:lumMod val="50000"/>
                  <a:lumOff val="5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600" b="1" dirty="0">
                <a:solidFill>
                  <a:srgbClr val="FF0000"/>
                </a:solidFill>
                <a:latin typeface="Arial Narrow" panose="020B0606020202030204" pitchFamily="34" charset="0"/>
                <a:cs typeface="Segoe UI" panose="020B0502040204020203" pitchFamily="34" charset="0"/>
              </a:rPr>
              <a:t>Netflix Nearly Teamed Up with YouTube</a:t>
            </a:r>
          </a:p>
          <a:p>
            <a:br>
              <a:rPr lang="en-US" sz="900" dirty="0">
                <a:latin typeface="Arial Narrow" panose="020B0606020202030204" pitchFamily="34" charset="0"/>
                <a:cs typeface="Segoe UI" panose="020B0502040204020203" pitchFamily="34" charset="0"/>
              </a:rPr>
            </a:br>
            <a:r>
              <a:rPr lang="en-US" sz="1600" b="1" i="1" dirty="0">
                <a:latin typeface="Arial Narrow" panose="020B0606020202030204" pitchFamily="34" charset="0"/>
              </a:rPr>
              <a:t>They almost joined forces before going solo.</a:t>
            </a:r>
          </a:p>
          <a:p>
            <a:endParaRPr lang="en-US" sz="900" b="1" dirty="0">
              <a:latin typeface="Arial Narrow" panose="020B0606020202030204" pitchFamily="34" charset="0"/>
              <a:cs typeface="Segoe UI" panose="020B0502040204020203" pitchFamily="34" charset="0"/>
            </a:endParaRPr>
          </a:p>
          <a:p>
            <a:r>
              <a:rPr lang="en-US" sz="1400" dirty="0">
                <a:latin typeface="Arial Narrow" panose="020B0606020202030204" pitchFamily="34" charset="0"/>
              </a:rPr>
              <a:t>Netflix once explored a partnership with YouTube in the early days of online video. They wanted to blend streaming with social content — but chose to focus on premium entertainment instead. </a:t>
            </a:r>
          </a:p>
          <a:p>
            <a:r>
              <a:rPr lang="en-US" sz="1400" dirty="0">
                <a:latin typeface="Arial Narrow" panose="020B0606020202030204" pitchFamily="34" charset="0"/>
              </a:rPr>
              <a:t>Probably a smart move!</a:t>
            </a:r>
            <a:endParaRPr lang="en-US" sz="1400" b="1" dirty="0">
              <a:latin typeface="Arial Narrow" panose="020B0606020202030204" pitchFamily="34" charset="0"/>
              <a:cs typeface="Segoe UI" panose="020B0502040204020203" pitchFamily="34" charset="0"/>
            </a:endParaRPr>
          </a:p>
        </p:txBody>
      </p:sp>
      <p:pic>
        <p:nvPicPr>
          <p:cNvPr id="59" name="Picture 58">
            <a:extLst>
              <a:ext uri="{FF2B5EF4-FFF2-40B4-BE49-F238E27FC236}">
                <a16:creationId xmlns:a16="http://schemas.microsoft.com/office/drawing/2014/main" id="{A17DC68F-44D6-9CA7-01A3-113B757228C4}"/>
              </a:ext>
            </a:extLst>
          </p:cNvPr>
          <p:cNvPicPr>
            <a:picLocks noChangeAspect="1"/>
          </p:cNvPicPr>
          <p:nvPr/>
        </p:nvPicPr>
        <p:blipFill>
          <a:blip r:embed="rId11">
            <a:extLst>
              <a:ext uri="{28A0092B-C50C-407E-A947-70E740481C1C}">
                <a14:useLocalDpi xmlns:a14="http://schemas.microsoft.com/office/drawing/2010/main" val="0"/>
              </a:ext>
            </a:extLst>
          </a:blip>
          <a:srcRect l="17758" t="26527" r="19473" b="26629"/>
          <a:stretch>
            <a:fillRect/>
          </a:stretch>
        </p:blipFill>
        <p:spPr>
          <a:xfrm>
            <a:off x="3013507" y="23716843"/>
            <a:ext cx="1039563" cy="775829"/>
          </a:xfrm>
          <a:prstGeom prst="rect">
            <a:avLst/>
          </a:prstGeom>
        </p:spPr>
      </p:pic>
      <p:sp>
        <p:nvSpPr>
          <p:cNvPr id="61" name="Oval 60">
            <a:extLst>
              <a:ext uri="{FF2B5EF4-FFF2-40B4-BE49-F238E27FC236}">
                <a16:creationId xmlns:a16="http://schemas.microsoft.com/office/drawing/2014/main" id="{9A6B8890-F551-FE6F-AB64-078ABDEEF1FB}"/>
              </a:ext>
            </a:extLst>
          </p:cNvPr>
          <p:cNvSpPr/>
          <p:nvPr/>
        </p:nvSpPr>
        <p:spPr>
          <a:xfrm>
            <a:off x="3422123" y="21451984"/>
            <a:ext cx="754380" cy="754380"/>
          </a:xfrm>
          <a:prstGeom prst="ellipse">
            <a:avLst/>
          </a:prstGeom>
          <a:solidFill>
            <a:schemeClr val="tx1">
              <a:lumMod val="95000"/>
              <a:lumOff val="5000"/>
            </a:schemeClr>
          </a:solidFill>
          <a:ln w="25400">
            <a:gradFill>
              <a:gsLst>
                <a:gs pos="0">
                  <a:schemeClr val="tx1">
                    <a:lumMod val="95000"/>
                    <a:lumOff val="5000"/>
                  </a:schemeClr>
                </a:gs>
                <a:gs pos="100000">
                  <a:srgbClr val="B20710"/>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latin typeface="Arial Narrow" panose="020B0606020202030204" pitchFamily="34" charset="0"/>
              </a:rPr>
              <a:t>05</a:t>
            </a:r>
            <a:endParaRPr lang="en-IN" sz="2800" b="1" dirty="0">
              <a:latin typeface="Arial Narrow" panose="020B0606020202030204" pitchFamily="34" charset="0"/>
            </a:endParaRPr>
          </a:p>
        </p:txBody>
      </p:sp>
      <p:sp>
        <p:nvSpPr>
          <p:cNvPr id="62" name="Rectangle: Rounded Corners 61">
            <a:extLst>
              <a:ext uri="{FF2B5EF4-FFF2-40B4-BE49-F238E27FC236}">
                <a16:creationId xmlns:a16="http://schemas.microsoft.com/office/drawing/2014/main" id="{893E0637-AF57-1BBC-E2EF-0E6F3480209D}"/>
              </a:ext>
            </a:extLst>
          </p:cNvPr>
          <p:cNvSpPr/>
          <p:nvPr/>
        </p:nvSpPr>
        <p:spPr>
          <a:xfrm flipV="1">
            <a:off x="4295450" y="21660288"/>
            <a:ext cx="7306914" cy="5280029"/>
          </a:xfrm>
          <a:prstGeom prst="roundRect">
            <a:avLst>
              <a:gd name="adj" fmla="val 5689"/>
            </a:avLst>
          </a:prstGeom>
          <a:noFill/>
          <a:ln w="25400">
            <a:gradFill flip="none" rotWithShape="1">
              <a:gsLst>
                <a:gs pos="81000">
                  <a:schemeClr val="tx1">
                    <a:lumMod val="95000"/>
                    <a:lumOff val="5000"/>
                  </a:schemeClr>
                </a:gs>
                <a:gs pos="69000">
                  <a:schemeClr val="tx1">
                    <a:lumMod val="95000"/>
                    <a:lumOff val="5000"/>
                  </a:schemeClr>
                </a:gs>
                <a:gs pos="15000">
                  <a:schemeClr val="bg1">
                    <a:lumMod val="50000"/>
                  </a:schemeClr>
                </a:gs>
                <a:gs pos="100000">
                  <a:schemeClr val="tx1">
                    <a:lumMod val="95000"/>
                    <a:lumOff val="5000"/>
                  </a:schemeClr>
                </a:gs>
                <a:gs pos="100000">
                  <a:schemeClr val="bg1"/>
                </a:gs>
                <a:gs pos="33000">
                  <a:schemeClr val="tx1">
                    <a:lumMod val="75000"/>
                    <a:lumOff val="2500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Rectangle: Rounded Corners 62">
            <a:extLst>
              <a:ext uri="{FF2B5EF4-FFF2-40B4-BE49-F238E27FC236}">
                <a16:creationId xmlns:a16="http://schemas.microsoft.com/office/drawing/2014/main" id="{9806930A-60D0-260B-7BAD-5999B1474EF8}"/>
              </a:ext>
            </a:extLst>
          </p:cNvPr>
          <p:cNvSpPr/>
          <p:nvPr/>
        </p:nvSpPr>
        <p:spPr>
          <a:xfrm flipV="1">
            <a:off x="584561" y="24451230"/>
            <a:ext cx="3373100" cy="2489087"/>
          </a:xfrm>
          <a:prstGeom prst="roundRect">
            <a:avLst>
              <a:gd name="adj" fmla="val 5689"/>
            </a:avLst>
          </a:prstGeom>
          <a:noFill/>
          <a:ln w="25400">
            <a:gradFill flip="none" rotWithShape="1">
              <a:gsLst>
                <a:gs pos="81000">
                  <a:schemeClr val="tx1">
                    <a:lumMod val="95000"/>
                    <a:lumOff val="5000"/>
                  </a:schemeClr>
                </a:gs>
                <a:gs pos="69000">
                  <a:schemeClr val="tx1">
                    <a:lumMod val="95000"/>
                    <a:lumOff val="5000"/>
                  </a:schemeClr>
                </a:gs>
                <a:gs pos="15000">
                  <a:schemeClr val="bg1">
                    <a:lumMod val="50000"/>
                  </a:schemeClr>
                </a:gs>
                <a:gs pos="100000">
                  <a:schemeClr val="tx1">
                    <a:lumMod val="95000"/>
                    <a:lumOff val="5000"/>
                  </a:schemeClr>
                </a:gs>
                <a:gs pos="100000">
                  <a:schemeClr val="bg1"/>
                </a:gs>
                <a:gs pos="33000">
                  <a:schemeClr val="tx1">
                    <a:lumMod val="75000"/>
                    <a:lumOff val="25000"/>
                  </a:schemeClr>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065953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161</TotalTime>
  <Words>340</Words>
  <Application>Microsoft Office PowerPoint</Application>
  <PresentationFormat>Custom</PresentationFormat>
  <Paragraphs>34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Narrow</vt:lpstr>
      <vt:lpstr>Bahnschrift Condensed</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Jerin Abraham George</dc:creator>
  <cp:lastModifiedBy>Jerin Abraham George</cp:lastModifiedBy>
  <cp:revision>28</cp:revision>
  <dcterms:created xsi:type="dcterms:W3CDTF">2025-06-15T21:29:37Z</dcterms:created>
  <dcterms:modified xsi:type="dcterms:W3CDTF">2025-06-16T18:46:11Z</dcterms:modified>
</cp:coreProperties>
</file>